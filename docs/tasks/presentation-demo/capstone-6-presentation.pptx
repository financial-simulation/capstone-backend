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ba428aa-0849-f7b6-9331-dcc1a0ff557a}">
          <p14:sldIdLst>
            <p14:sldId id="256"/>
            <p14:sldId id="257"/>
          </p14:sldIdLst>
        </p14:section>
        <p14:section name="왜 시뮬레이터인가" id="{0925de04-0015-522f-5bba-b5fbd3e86cb0}">
          <p14:sldIdLst>
            <p14:sldId id="258"/>
            <p14:sldId id="259"/>
            <p14:sldId id="260"/>
          </p14:sldIdLst>
        </p14:section>
        <p14:section name="가치와 차별성" id="{e6f14309-30ab-45bb-6407-04fc5e887efa}">
          <p14:sldIdLst>
            <p14:sldId id="261"/>
            <p14:sldId id="262"/>
          </p14:sldIdLst>
        </p14:section>
        <p14:section name="구조와 신뢰성" id="{27f8f165-b520-459d-828a-4cbbe01edf97}">
          <p14:sldIdLst>
            <p14:sldId id="263"/>
            <p14:sldId id="264"/>
            <p14:sldId id="265"/>
          </p14:sldIdLst>
        </p14:section>
        <p14:section name="시연" id="{9434faab-1e84-3892-88d9-25cfd9eabf4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청년도약계좌 중도해지 사유</a:t>
            </a:r>
          </a:p>
        </c:rich>
      </c:tx>
      <c:layout/>
      <c:overlay val="0"/>
    </c:title>
    <c:autoTitleDeleted val="0"/>
    <c:plotArea>
      <c:layout/>
      <c:doughnutChart>
        <c:varyColors val="1"/>
        <c:ser>
          <c:idx val="0"/>
          <c:order val="0"/>
          <c:tx>
            <c:strRef>
              <c:f>Sheet1!$B$1</c:f>
              <c:strCache>
                <c:ptCount val="1"/>
                <c:pt idx="0">
                  <c:v>해지 사유</c:v>
                </c:pt>
              </c:strCache>
            </c:strRef>
          </c:tx>
          <c:spPr>
            <a:solidFill>
              <a:schemeClr val="accent1"/>
            </a:solidFill>
            <a:ln w="9525" cap="flat">
              <a:solidFill>
                <a:srgbClr val="F9F9F9"/>
              </a:solidFill>
              <a:prstDash val="solid"/>
              <a:round/>
            </a:ln>
            <a:effectLst/>
          </c:spPr>
          <c:dPt>
            <c:idx val="0"/>
            <c:bubble3D val="0"/>
            <c:spPr>
              <a:solidFill>
                <a:srgbClr val="C2570C"/>
              </a:solidFill>
              <a:effectLst/>
            </c:spPr>
          </c:dPt>
          <c:dPt>
            <c:idx val="1"/>
            <c:bubble3D val="0"/>
            <c:spPr>
              <a:solidFill>
                <a:srgbClr val="E8935C"/>
              </a:solidFill>
              <a:effectLst/>
            </c:spPr>
          </c:dPt>
          <c:dPt>
            <c:idx val="2"/>
            <c:bubble3D val="0"/>
            <c:spPr>
              <a:solidFill>
                <a:srgbClr val="D5DCE4"/>
              </a:solidFill>
              <a:effectLst/>
            </c:spPr>
          </c:dPt>
          <c:dLbls>
            <c:dLbl>
              <c:idx val="0"/>
              <c:numFmt formatCode="0.0&quot;%&quot;" sourceLinked="0"/>
              <c:spPr/>
              <c:txPr>
                <a:bodyPr/>
                <a:lstStyle/>
                <a:p>
                  <a:pPr>
                    <a:defRPr sz="1300" b="0" i="0" u="none" strike="noStrike">
                      <a:solidFill>
                        <a:srgbClr val="FFFFFF"/>
                      </a:solidFill>
                      <a:latin typeface="+mn-lt"/>
                    </a:defRPr>
                  </a:pPr>
                </a:p>
              </c:txPr>
              <c:showLegendKey val="0"/>
              <c:showVal val="1"/>
              <c:showCatName val="0"/>
              <c:showSerName val="0"/>
              <c:showPercent val="0"/>
              <c:showBubbleSize val="0"/>
            </c:dLbl>
            <c:dLbl>
              <c:idx val="1"/>
              <c:numFmt formatCode="0.0&quot;%&quot;" sourceLinked="0"/>
              <c:spPr/>
              <c:txPr>
                <a:bodyPr/>
                <a:lstStyle/>
                <a:p>
                  <a:pPr>
                    <a:defRPr sz="1300" b="0" i="0" u="none" strike="noStrike">
                      <a:solidFill>
                        <a:srgbClr val="FFFFFF"/>
                      </a:solidFill>
                      <a:latin typeface="+mn-lt"/>
                    </a:defRPr>
                  </a:pPr>
                </a:p>
              </c:txPr>
              <c:showLegendKey val="0"/>
              <c:showVal val="1"/>
              <c:showCatName val="0"/>
              <c:showSerName val="0"/>
              <c:showPercent val="0"/>
              <c:showBubbleSize val="0"/>
            </c:dLbl>
            <c:dLbl>
              <c:idx val="2"/>
              <c:numFmt formatCode="0.0&quot;%&quot;" sourceLinked="0"/>
              <c:spPr/>
              <c:txPr>
                <a:bodyPr/>
                <a:lstStyle/>
                <a:p>
                  <a:pPr>
                    <a:defRPr sz="1300" b="0" i="0" u="none" strike="noStrike">
                      <a:solidFill>
                        <a:srgbClr val="FFFFFF"/>
                      </a:solidFill>
                      <a:latin typeface="+mn-lt"/>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실업·소득 감소</c:v>
                </c:pt>
                <c:pt idx="1">
                  <c:v>긴급 자금 필요</c:v>
                </c:pt>
                <c:pt idx="2">
                  <c:v>그 밖의 이유</c:v>
                </c:pt>
              </c:strCache>
            </c:strRef>
          </c:cat>
          <c:val>
            <c:numRef>
              <c:f>Sheet1!$B$2:$B$4</c:f>
              <c:numCache>
                <c:ptCount val="3"/>
                <c:pt idx="0">
                  <c:v>39</c:v>
                </c:pt>
                <c:pt idx="1">
                  <c:v>33.3</c:v>
                </c:pt>
                <c:pt idx="2">
                  <c:v>27.7</c:v>
                </c:pt>
              </c:numCache>
            </c:numRef>
          </c:val>
        </c:ser>
        <c:firstSliceAng val="0"/>
        <c:holeSize val="58"/>
      </c:doughnutChart>
      <c:spPr>
        <a:noFill/>
        <a:ln>
          <a:noFill/>
        </a:ln>
        <a:effectLst/>
      </c:spPr>
    </c:plotArea>
    <c:legend>
      <c:legendPos val="b"/>
      <c:overlay val="0"/>
      <c:txPr>
        <a:bodyPr/>
        <a:lstStyle/>
        <a:p>
          <a:pPr>
            <a:defRPr sz="13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청년희망적금 해지율 백테스트 (보정에 안 쓴 자료)</a:t>
            </a:r>
          </a:p>
        </c:rich>
      </c:tx>
      <c:layout/>
      <c:overlay val="0"/>
    </c:title>
    <c:autoTitleDeleted val="0"/>
    <c:plotArea>
      <c:layout/>
      <c:barChart>
        <c:barDir val="col"/>
        <c:grouping val="clustered"/>
        <c:varyColors val="0"/>
        <c:ser>
          <c:idx val="0"/>
          <c:order val="0"/>
          <c:tx>
            <c:strRef>
              <c:f>Sheet1!$B$1</c:f>
              <c:strCache>
                <c:ptCount val="1"/>
                <c:pt idx="0">
                  <c:v>모델 예측</c:v>
                </c:pt>
              </c:strCache>
            </c:strRef>
          </c:tx>
          <c:spPr>
            <a:solidFill>
              <a:srgbClr val="0B5CAD"/>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16개월</c:v>
                  </c:pt>
                  <c:pt idx="1">
                    <c:v>22개월</c:v>
                  </c:pt>
                  <c:pt idx="2">
                    <c:v>24개월 (만기)</c:v>
                  </c:pt>
                </c:lvl>
              </c:multiLvlStrCache>
            </c:multiLvlStrRef>
          </c:cat>
          <c:val>
            <c:numRef>
              <c:f>Sheet1!$B$2:$B$4</c:f>
              <c:numCache>
                <c:formatCode>General</c:formatCode>
                <c:ptCount val="3"/>
                <c:pt idx="0">
                  <c:v>17</c:v>
                </c:pt>
                <c:pt idx="1">
                  <c:v>21.6</c:v>
                </c:pt>
                <c:pt idx="2">
                  <c:v>22.3</c:v>
                </c:pt>
              </c:numCache>
            </c:numRef>
          </c:val>
        </c:ser>
        <c:ser>
          <c:idx val="1"/>
          <c:order val="1"/>
          <c:tx>
            <c:strRef>
              <c:f>Sheet1!$C$1</c:f>
              <c:strCache>
                <c:ptCount val="1"/>
                <c:pt idx="0">
                  <c:v>실제 (돈 부족 사유)</c:v>
                </c:pt>
              </c:strCache>
            </c:strRef>
          </c:tx>
          <c:spPr>
            <a:solidFill>
              <a:srgbClr val="B8C2CC"/>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16개월</c:v>
                  </c:pt>
                  <c:pt idx="1">
                    <c:v>22개월</c:v>
                  </c:pt>
                  <c:pt idx="2">
                    <c:v>24개월 (만기)</c:v>
                  </c:pt>
                </c:lvl>
              </c:multiLvlStrCache>
            </c:multiLvlStrRef>
          </c:cat>
          <c:val>
            <c:numRef>
              <c:f>Sheet1!$C$2:$C$4</c:f>
              <c:numCache>
                <c:formatCode>General</c:formatCode>
                <c:ptCount val="3"/>
                <c:pt idx="0">
                  <c:v>17.6</c:v>
                </c:pt>
                <c:pt idx="1">
                  <c:v>21</c:v>
                </c:pt>
                <c:pt idx="2">
                  <c:v>21.4</c:v>
                </c:pt>
              </c:numCache>
            </c:numRef>
          </c:val>
        </c:ser>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2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안녕하세요, 6조입니다. 저희는 사회초년생이 "지금 내 조건으로 목표 금액까지 갈 수 있을까?"에 답하는 금융 시뮬레이터를 만들고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지난 발표에서 네 가지 질문을 받았습니다. 시뮬레이터가 왜 필요한지, 쓰기 전과 후에 무엇이 달라지는지, 계좌 연동 서비스가 있는데 왜 직접 입력해야 하는지, 그리고 '시뮬레이션에 불과한 것 아니냐', 신뢰성과 평가 지표를 보여 달라는 것이었습니다.
오늘은 이 네 가지에 차례로 답하겠습니다.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먼저 문제입니다. 청년도약계좌를 중도에 깬 사람들에게 이유를 물었더니, 실업이나 소득 감소가 39%, 급하게 돈이 필요해서가 33%였습니다. 합치면 72%가 실직이나 급한 지출 때문에 적금을 깹니다.
그런데 적금 계산기는 이 72%를 0으로 둡니다. 매달 계획대로 넣는다고 가정하고 만기액 하나만 보여 줍니다.
게다가 청년 절반은 "예금이 5년 뒤 얼마가 되나" 같은 단순한 계산도 틀렸습니다. 실직이나 급전까지 넣어서 직접 계산하기는 훨씬 어렵습니다.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같은 사람으로 비교해 보겠습니다. 27세 2년 차 개발자, 실수령 250만 원, 매달 50만 원씩 모아서 5년 뒤 3,000만 원을 모으고 싶은 분입니다.
계산기에 넣으면 4,440만 원이 나옵니다. 목표를 넉넉히 넘으니 "문제없다"는 답입니다.
같은 입력을 저희 시뮬레이터에 넣으면, 실직·급한 지출·물가·연봉 변화가 다르게 펼쳐지는 미래 2,000개를 계산합니다. 그중 목표에 닿는 미래는 약 58%입니다. 가운데 값은 3,389만 원이고, 5년 안에 한 번이라도 빚을 질 가능성이 19%, 운이 나쁜 하위 5%에서는 빚이 1,599만 원까지 갑니다.
계산기는 "충분하다"고 하지만, 실제로는 열 명 중 네 명이 목표에 못 닿는 계획입니다. 이게 계산기가 아니라 시뮬레이터가 필요한 이유입니다.
(숫자는 파이썬 기준 구현으로 계산한 값이고, 58% 같은 숫자 자체는 가정에 따라 47~82%까지 움직여서 화면에는 범위와 함께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[2:30~3:20]
그럼 평균값을 넣어서 한 번 계산하면 되지 않느냐는 질문이 나올 수 있습니다. 안 됩니다. 결과가 일이 일어나는 '순서'에 따라 갈리기 때문입니다.
이 사람에게 가장 흔한 실패 경로입니다. 실직도 없었는데 19개월째에 급하게 120만 원이 나갑니다. 통장이 마이너스 50만 원을 넘으면서 적금을 깨고, 그동안 쌓인 정부 지원금이 사라집니다.
같은 일도 언제 오느냐에 따라 다릅니다. 퇴직하고 6개월 안에 깨면 지원금이 남지만 그 뒤면 사라지고, 실업급여는 그전에 얼마나 일했느냐에 따라 받을지가 갈립니다.
그래서 계산기와 반대 결론이 나오기도 합니다. 계산기는 월 50만 원이 30만 원보다 무조건 낫다고 하지만, 시뮬레이터로 보면 50만 원을 넣을 때 적금이 깨질 위험이 19%p 더 큽니다. 가정을 60번 바꿔서 다시 계산해도 60번 모두 같은 결론이었습니다.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[3:20~4:10]
그래서 사용자에게 무엇이 달라지느냐. 지금까지 감으로 하던 결정을 숫자로 비교할 수 있게 됩니다.
"생활비를 얼마나 줄여야 하지?"에는 변동지출을 월 10만 원 줄이면 가능성이 58%에서 70%로 오르고 목표에 13개월 빨리 닿는다고 답합니다.
24세 첫 직장인이 "적금부터 들까, 비상금부터 모을까" 고민하면, 비상금 200만 원을 먼저 모으면 적금이 깨질 위험이 40%에서 27%로 줄고, 받는 지원금 차이는 평균 7만 원뿐이라고 알려 줍니다.
작은 선택은 차이가 작다는 것까지 보여 줘서, 결과를 크게 바꾸는 행동에 집중하게 하는 것이 저희 서비스의 가치입니다.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[4:10~4:50]
토스처럼 계좌를 연동하는 서비스와는 보는 시간이 다릅니다. 계좌 내역은 이미 일어난 일입니다. 이직이나 이사처럼 아직 하지 않은 선택, 실직이나 급전처럼 아직 일어나지 않은 일은 거래 내역에 없습니다. 연동을 해도 이 질문에는 답이 안 나옵니다.
그래서 직접 입력을 받되, 필수는 8칸으로 줄이고 나머지는 기본값을 넣었습니다. 입력값은 서버에 저장하지 않아서 금융 정보가 새어 나갈 걱정도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[4:50~5:30]
피드백에서 요청하신 전체 흐름을 한 사람으로 따라가 보겠습니다.
입력 8칸을 받으면, 나이와 소득으로 청년미래적금 대상인지 판정하고 실직 위험 같은 변수를 공공통계에서 정합니다. 그다음 미래 2,000개를 120개월 동안 매달 14단계로 계산하고, 결과를 "가능성 약 58%"라는 한 문장으로 보여 줍니다.
사용자가 지출을 바꾸면 같은 2,000개 미래로 다시 계산합니다. 그래서 차이는 오직 바꾼 내용에서만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[5:30~6:20]
"시뮬레이션에 불과하다"는 지적에 대한 답입니다. 한 사람의 미래를 맞히는 건 원리적으로 검증할 수 없어서, 집단 수준에서 현실을 재현하는지로 평가했습니다.
급전 확률을 맞출 때 쓰지 않은 다른 상품, 청년희망적금 가입자 286만 명의 실제 해지율을 예측해 봤습니다. 2022년 고물가 시기였는데도 세 시점 모두 실제와 0.6~0.9%p 차이로 실제 값의 95% 범위 안에 들었습니다.
그리고 불확실한 가정을 60번 한꺼번에 바꿔도 핵심 결론은 60번 모두 유지됐고, 계산 자체는 손계산과 1조분의 1 차이, 제도 규칙 12개는 모두 일치했습니다.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[6:20~6:45]
진행 상황입니다. 입력 검사, 대출 상환액, 예정된 일, 예시 사용자 같은 입력 쪽 API는 완성했고, API는 32개에서 12개로 정리했습니다.
다음 주부터 파이썬 기준 구현을 Java 엔진으로 옮기고, 정답 파일과 대조하면서 기본 결과, 바꿔 보기, 역산 순서로 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[6:45~8:00] 시연
(01-1) 방금 본 27세 개발자로 직접 입력해 보겠습니다. 나이에 17을 넣으면 바로 빨간 테두리로 막힙니다. 27로 고치고, 실수령 250만, 고정 95만, 변동 95만을 넣으면 매달 남는 돈 60만 원이 바로 보입니다.
(01-2) 학자금 1,200만 원, 1.9%, 96개월을 넣으면 매달 갚는 돈 134,839원이 자동으로 계산됩니다. 월 저축 50만 원을 넣고 '다음'을 누르면,
(경고 모달) "매달 약 3.5만 원이 모자라요" 경고가 뜹니다. 학자금을 갚고 나면 남는 돈이 46.5만 원인데 50만 원을 저축하려고 하니까요. 사회초년생이 놓치기 쉬운 부분이라 막지는 않고 알려 줍니다.
(04-E 예시 결과) 결과 화면은 엔진 이식 전이라, 파이썬 기준 구현으로 미리 계산한 결과를 예시 화면으로 보여 드립니다. 가능성 약 58%, 계산기로는 4,440만 원, 이게 앞에서 보신 그 차이입니다.
※ 프론트 연결이 안 되면 http/demo.http를 위에서부터 실행하며 같은 순서로 설명. 녹화 영상 백업 필수.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질의응답
예상 질문
- 왜 2,000번만 돌리나요? → 2,000번일 때 흔들림이 0.94%p로, 가정을 바꿀 때 생기는 범위(47~82%)보다 훨씬 작아서 더 늘려도 나아지는 게 거의 없습니다 (보고서 7.10).
- 실직·급전 확률은 어디서 왔나요? → 실직 위험은 연령별 실업률에서 직접 계산했고, 급전 확률은 청년도약계좌 해지율로 맞춘 뒤 청년희망적금으로 검증했습니다. 파라미터 20개 중 16개가 법령·공공통계 기반(A~C 등급)입니다.
- 58%가 정확한가요? → 숫자 자체는 가정에 따라 47~82%로 움직여서 범위로 보여 줍니다. 대신 "A보다 B가 덜 위험하다" 같은 비교는 가정을 바꿔도 유지돼서, 서비스는 비교를 주장합니다.
- 왜 서버에 저장 안 하나요? → 금융 정보를 서버에 두지 않기로 했고(NFR-06), 같은 입력과 시드면 언제든 같은 결과를 다시 만들 수 있습니다.
- 상품 추천은 하나요? → 하지 않습니다. 결과가 왜 이렇게 나오는지 보여 주는 의사결정 도구입니다.
- 계산할 줄 아는 사람에게도 필요한가요? → 필요가 작을 수 있습니다. 다만 계산할 줄 알아도 연령별 실직 위험, 재취업 기간, 급전 빈도 같은 '재료'는 한곳에 없고, 이걸 공공통계로 추정해 검증한 게 이 프로젝트의 대부분입니다.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035040" cy="1828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3840480"/>
            <a:ext cx="6035040" cy="54864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785"/>
                </a:solidFill>
              </a:rPr>
              <a:t>사회초년생 맞춤형 금융 시뮬레이터 · 캡스톤디자인 6조</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3.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34440"/>
            <a:ext cx="6035040" cy="365760"/>
          </a:xfrm>
          <a:prstGeom prst="rect">
            <a:avLst/>
          </a:prstGeom>
          <a:noFill/>
          <a:ln/>
        </p:spPr>
        <p:txBody>
          <a:bodyPr wrap="square" lIns="0" tIns="0" rIns="0" bIns="0" rtlCol="0" anchor="ctr"/>
          <a:lstStyle/>
          <a:p>
            <a:pPr indent="0" marL="0">
              <a:buNone/>
            </a:pPr>
            <a:r>
              <a:rPr lang="en-US" sz="1600" b="1" dirty="0">
                <a:solidFill>
                  <a:srgbClr val="CADCFC"/>
                </a:solidFill>
              </a:rPr>
              <a:t>사회초년생 맞춤형 금융 시뮬레이터</a:t>
            </a:r>
            <a:endParaRPr lang="en-US" sz="1600" dirty="0"/>
          </a:p>
        </p:txBody>
      </p:sp>
      <p:sp>
        <p:nvSpPr>
          <p:cNvPr id="3" name="Text 0"/>
          <p:cNvSpPr/>
          <p:nvPr>
            <p:ph idx="100" type="title" hasCustomPrompt="1"/>
          </p:nvPr>
        </p:nvSpPr>
        <p:spPr>
          <a:xfrm>
            <a:off x="640080" y="1828800"/>
            <a:ext cx="6035040" cy="1828800"/>
          </a:xfrm>
          <a:prstGeom prst="rect">
            <a:avLst/>
          </a:prstGeom>
          <a:noFill/>
          <a:ln/>
        </p:spPr>
        <p:txBody>
          <a:bodyPr wrap="square" lIns="0" tIns="0" rIns="0" bIns="0" rtlCol="0" anchor="t"/>
          <a:lstStyle/>
          <a:p>
            <a:pPr algn="l" indent="0" marL="0">
              <a:buNone/>
            </a:pPr>
            <a:r>
              <a:rPr lang="en-US" sz="3600" b="1" dirty="0">
                <a:solidFill>
                  <a:schemeClr val="bg1"/>
                </a:solidFill>
              </a:rPr>
              <a:t>지금 내 조건으로</a:t>
            </a:r>
            <a:endParaRPr lang="en-US" sz="3600" dirty="0"/>
          </a:p>
          <a:p>
            <a:pPr algn="l" indent="0" marL="0">
              <a:buNone/>
            </a:pPr>
            <a:r>
              <a:rPr lang="en-US" sz="3600" b="1" dirty="0">
                <a:solidFill>
                  <a:schemeClr val="bg1"/>
                </a:solidFill>
              </a:rPr>
              <a:t>목표까지 갈 수 있을까?</a:t>
            </a:r>
            <a:endParaRPr lang="en-US" sz="3600" dirty="0"/>
          </a:p>
        </p:txBody>
      </p:sp>
      <p:sp>
        <p:nvSpPr>
          <p:cNvPr id="4" name="Text 0"/>
          <p:cNvSpPr/>
          <p:nvPr>
            <p:ph idx="101" type="body" hasCustomPrompt="1"/>
          </p:nvPr>
        </p:nvSpPr>
        <p:spPr>
          <a:xfrm>
            <a:off x="640080" y="3840480"/>
            <a:ext cx="6035040" cy="548640"/>
          </a:xfrm>
          <a:prstGeom prst="rect">
            <a:avLst/>
          </a:prstGeom>
          <a:noFill/>
          <a:ln/>
        </p:spPr>
        <p:txBody>
          <a:bodyPr wrap="square" lIns="0" tIns="0" rIns="0" bIns="0" rtlCol="0" anchor="t"/>
          <a:lstStyle/>
          <a:p>
            <a:pPr algn="l" indent="0" marL="0">
              <a:buNone/>
            </a:pPr>
            <a:r>
              <a:rPr lang="en-US" sz="1800" dirty="0">
                <a:solidFill>
                  <a:srgbClr val="CADCFC"/>
                </a:solidFill>
              </a:rPr>
              <a:t>캡스톤디자인 6조 · 조민석 · 정선빈 · 이윤제</a:t>
            </a:r>
            <a:endParaRPr lang="en-US" sz="1800" dirty="0"/>
          </a:p>
        </p:txBody>
      </p:sp>
      <p:sp>
        <p:nvSpPr>
          <p:cNvPr id="5" name="screen-frame"/>
          <p:cNvSpPr/>
          <p:nvPr/>
        </p:nvSpPr>
        <p:spPr>
          <a:xfrm>
            <a:off x="7086600" y="1325880"/>
            <a:ext cx="4572000" cy="4206240"/>
          </a:xfrm>
          <a:prstGeom prst="roundRect">
            <a:avLst>
              <a:gd name="adj" fmla="val 3261"/>
            </a:avLst>
          </a:prstGeom>
          <a:solidFill>
            <a:srgbClr val="FFFFFF"/>
          </a:solidFill>
          <a:ln w="12700">
            <a:solidFill>
              <a:srgbClr val="FFFFFF"/>
            </a:solidFill>
            <a:prstDash val="solid"/>
          </a:ln>
        </p:spPr>
      </p:sp>
      <p:pic>
        <p:nvPicPr>
          <p:cNvPr id="6" name="result-screen" descr="결과 확인 화면 (Figma 화면 초안)">    </p:cNvPr>
          <p:cNvPicPr>
            <a:picLocks noChangeAspect="1"/>
          </p:cNvPicPr>
          <p:nvPr/>
        </p:nvPicPr>
        <p:blipFill>
          <a:blip r:embed="rId1"/>
          <a:stretch>
            <a:fillRect/>
          </a:stretch>
        </p:blipFill>
        <p:spPr>
          <a:xfrm>
            <a:off x="7223760" y="2011680"/>
            <a:ext cx="4297680" cy="2880360"/>
          </a:xfrm>
          <a:prstGeom prst="rect">
            <a:avLst/>
          </a:prstGeom>
        </p:spPr>
      </p:pic>
      <p:sp>
        <p:nvSpPr>
          <p:cNvPr id="7" name="Text 4"/>
          <p:cNvSpPr txBox="1"/>
          <p:nvPr/>
        </p:nvSpPr>
        <p:spPr>
          <a:xfrm>
            <a:off x="7223760" y="1463040"/>
            <a:ext cx="4297680" cy="365760"/>
          </a:xfrm>
          <a:prstGeom prst="rect">
            <a:avLst/>
          </a:prstGeom>
          <a:noFill/>
          <a:ln/>
        </p:spPr>
        <p:txBody>
          <a:bodyPr wrap="square" lIns="0" tIns="0" rIns="0" bIns="0" rtlCol="0" anchor="ctr"/>
          <a:lstStyle/>
          <a:p>
            <a:pPr indent="0" marL="0">
              <a:buNone/>
            </a:pPr>
            <a:r>
              <a:rPr lang="en-US" sz="1200" dirty="0">
                <a:solidFill>
                  <a:srgbClr val="6B7785"/>
                </a:solidFill>
              </a:rPr>
              <a:t>결과 확인 화면 (Figma)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지난 발표에서 받은 질문에 답할게요</a:t>
            </a:r>
            <a:endParaRPr lang="en-US" sz="3000" dirty="0"/>
          </a:p>
        </p:txBody>
      </p:sp>
      <p:sp>
        <p:nvSpPr>
          <p:cNvPr id="3" name="fb-card-0"/>
          <p:cNvSpPr/>
          <p:nvPr/>
        </p:nvSpPr>
        <p:spPr>
          <a:xfrm>
            <a:off x="548640" y="1463040"/>
            <a:ext cx="5440680" cy="201168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4" name="fb-0-dot"/>
          <p:cNvSpPr/>
          <p:nvPr/>
        </p:nvSpPr>
        <p:spPr>
          <a:xfrm>
            <a:off x="868680" y="1783080"/>
            <a:ext cx="640080" cy="640080"/>
          </a:xfrm>
          <a:prstGeom prst="ellipse">
            <a:avLst/>
          </a:prstGeom>
          <a:solidFill>
            <a:srgbClr val="DCE8F6"/>
          </a:solidFill>
          <a:ln w="12700">
            <a:solidFill>
              <a:srgbClr val="DCE8F6"/>
            </a:solidFill>
            <a:prstDash val="solid"/>
          </a:ln>
        </p:spPr>
      </p:sp>
      <p:pic>
        <p:nvPicPr>
          <p:cNvPr id="5" name="fb-0-icon" descr="fb-0">    </p:cNvPr>
          <p:cNvPicPr>
            <a:picLocks noChangeAspect="1"/>
          </p:cNvPicPr>
          <p:nvPr/>
        </p:nvPicPr>
        <p:blipFill>
          <a:blip r:embed="rId1"/>
          <a:stretch>
            <a:fillRect/>
          </a:stretch>
        </p:blipFill>
        <p:spPr>
          <a:xfrm>
            <a:off x="1028700" y="1943100"/>
            <a:ext cx="320040" cy="320040"/>
          </a:xfrm>
          <a:prstGeom prst="rect">
            <a:avLst/>
          </a:prstGeom>
        </p:spPr>
      </p:pic>
      <p:sp>
        <p:nvSpPr>
          <p:cNvPr id="6" name="Text 3"/>
          <p:cNvSpPr txBox="1"/>
          <p:nvPr/>
        </p:nvSpPr>
        <p:spPr>
          <a:xfrm>
            <a:off x="1691640" y="1737360"/>
            <a:ext cx="4069080" cy="731520"/>
          </a:xfrm>
          <a:prstGeom prst="rect">
            <a:avLst/>
          </a:prstGeom>
          <a:noFill/>
          <a:ln/>
        </p:spPr>
        <p:txBody>
          <a:bodyPr wrap="square" lIns="0" tIns="0" rIns="0" bIns="0" rtlCol="0" anchor="ctr"/>
          <a:lstStyle/>
          <a:p>
            <a:pPr indent="0" marL="0">
              <a:buNone/>
            </a:pPr>
            <a:r>
              <a:rPr lang="en-US" sz="1800" b="1" dirty="0">
                <a:solidFill>
                  <a:schemeClr val="tx1"/>
                </a:solidFill>
              </a:rPr>
              <a:t>시뮬레이터가 왜 필요한가요?</a:t>
            </a:r>
            <a:endParaRPr lang="en-US" sz="1800" dirty="0"/>
          </a:p>
        </p:txBody>
      </p:sp>
      <p:sp>
        <p:nvSpPr>
          <p:cNvPr id="7" name="Text 4"/>
          <p:cNvSpPr txBox="1"/>
          <p:nvPr/>
        </p:nvSpPr>
        <p:spPr>
          <a:xfrm>
            <a:off x="1691640" y="2468880"/>
            <a:ext cx="4069080" cy="411480"/>
          </a:xfrm>
          <a:prstGeom prst="rect">
            <a:avLst/>
          </a:prstGeom>
          <a:noFill/>
          <a:ln/>
        </p:spPr>
        <p:txBody>
          <a:bodyPr wrap="square" lIns="0" tIns="0" rIns="0" bIns="0" rtlCol="0" anchor="ctr"/>
          <a:lstStyle/>
          <a:p>
            <a:pPr indent="0" marL="0">
              <a:buNone/>
            </a:pPr>
            <a:r>
              <a:rPr lang="en-US" sz="1400" dirty="0">
                <a:solidFill>
                  <a:srgbClr val="6B7785"/>
                </a:solidFill>
              </a:rPr>
              <a:t>계산기와 무엇이 다른지 어필이 부족했다</a:t>
            </a:r>
            <a:endParaRPr lang="en-US" sz="1400" dirty="0"/>
          </a:p>
        </p:txBody>
      </p:sp>
      <p:sp>
        <p:nvSpPr>
          <p:cNvPr id="8" name="Text 5"/>
          <p:cNvSpPr txBox="1"/>
          <p:nvPr/>
        </p:nvSpPr>
        <p:spPr>
          <a:xfrm>
            <a:off x="1691640" y="2926080"/>
            <a:ext cx="4069080" cy="365760"/>
          </a:xfrm>
          <a:prstGeom prst="rect">
            <a:avLst/>
          </a:prstGeom>
          <a:noFill/>
          <a:ln/>
        </p:spPr>
        <p:txBody>
          <a:bodyPr wrap="square" lIns="0" tIns="0" rIns="0" bIns="0" rtlCol="0" anchor="ctr"/>
          <a:lstStyle/>
          <a:p>
            <a:pPr indent="0" marL="0">
              <a:buNone/>
            </a:pPr>
            <a:r>
              <a:rPr lang="en-US" sz="1400" dirty="0">
                <a:solidFill>
                  <a:srgbClr val="6B7785"/>
                </a:solidFill>
              </a:rPr>
              <a:t>답: 슬라이드 </a:t>
            </a:r>
            <a:pPr indent="0" marL="0">
              <a:buNone/>
            </a:pPr>
            <a:r>
              <a:rPr lang="en-US" sz="1400" b="1" dirty="0">
                <a:solidFill>
                  <a:schemeClr val="accent1"/>
                </a:solidFill>
              </a:rPr>
              <a:t>3 · 4 · 5</a:t>
            </a:r>
            <a:endParaRPr lang="en-US" sz="1400" dirty="0"/>
          </a:p>
        </p:txBody>
      </p:sp>
      <p:sp>
        <p:nvSpPr>
          <p:cNvPr id="9" name="fb-card-1"/>
          <p:cNvSpPr/>
          <p:nvPr/>
        </p:nvSpPr>
        <p:spPr>
          <a:xfrm>
            <a:off x="6172200" y="1463040"/>
            <a:ext cx="5440680" cy="201168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10" name="fb-1-dot"/>
          <p:cNvSpPr/>
          <p:nvPr/>
        </p:nvSpPr>
        <p:spPr>
          <a:xfrm>
            <a:off x="6492240" y="1783080"/>
            <a:ext cx="640080" cy="640080"/>
          </a:xfrm>
          <a:prstGeom prst="ellipse">
            <a:avLst/>
          </a:prstGeom>
          <a:solidFill>
            <a:srgbClr val="DCE8F6"/>
          </a:solidFill>
          <a:ln w="12700">
            <a:solidFill>
              <a:srgbClr val="DCE8F6"/>
            </a:solidFill>
            <a:prstDash val="solid"/>
          </a:ln>
        </p:spPr>
      </p:sp>
      <p:pic>
        <p:nvPicPr>
          <p:cNvPr id="11" name="fb-1-icon" descr="fb-1">    </p:cNvPr>
          <p:cNvPicPr>
            <a:picLocks noChangeAspect="1"/>
          </p:cNvPicPr>
          <p:nvPr/>
        </p:nvPicPr>
        <p:blipFill>
          <a:blip r:embed="rId2"/>
          <a:stretch>
            <a:fillRect/>
          </a:stretch>
        </p:blipFill>
        <p:spPr>
          <a:xfrm>
            <a:off x="6652260" y="1943100"/>
            <a:ext cx="320040" cy="320040"/>
          </a:xfrm>
          <a:prstGeom prst="rect">
            <a:avLst/>
          </a:prstGeom>
        </p:spPr>
      </p:pic>
      <p:sp>
        <p:nvSpPr>
          <p:cNvPr id="12" name="Text 8"/>
          <p:cNvSpPr txBox="1"/>
          <p:nvPr/>
        </p:nvSpPr>
        <p:spPr>
          <a:xfrm>
            <a:off x="7315200" y="1737360"/>
            <a:ext cx="4069080" cy="731520"/>
          </a:xfrm>
          <a:prstGeom prst="rect">
            <a:avLst/>
          </a:prstGeom>
          <a:noFill/>
          <a:ln/>
        </p:spPr>
        <p:txBody>
          <a:bodyPr wrap="square" lIns="0" tIns="0" rIns="0" bIns="0" rtlCol="0" anchor="ctr"/>
          <a:lstStyle/>
          <a:p>
            <a:pPr indent="0" marL="0">
              <a:buNone/>
            </a:pPr>
            <a:r>
              <a:rPr lang="en-US" sz="1800" b="1" dirty="0">
                <a:solidFill>
                  <a:schemeClr val="tx1"/>
                </a:solidFill>
              </a:rPr>
              <a:t>사용 전과 후, 무엇이 달라지나요?</a:t>
            </a:r>
            <a:endParaRPr lang="en-US" sz="1800" dirty="0"/>
          </a:p>
        </p:txBody>
      </p:sp>
      <p:sp>
        <p:nvSpPr>
          <p:cNvPr id="13" name="Text 9"/>
          <p:cNvSpPr txBox="1"/>
          <p:nvPr/>
        </p:nvSpPr>
        <p:spPr>
          <a:xfrm>
            <a:off x="7315200" y="2468880"/>
            <a:ext cx="4069080" cy="411480"/>
          </a:xfrm>
          <a:prstGeom prst="rect">
            <a:avLst/>
          </a:prstGeom>
          <a:noFill/>
          <a:ln/>
        </p:spPr>
        <p:txBody>
          <a:bodyPr wrap="square" lIns="0" tIns="0" rIns="0" bIns="0" rtlCol="0" anchor="ctr"/>
          <a:lstStyle/>
          <a:p>
            <a:pPr indent="0" marL="0">
              <a:buNone/>
            </a:pPr>
            <a:r>
              <a:rPr lang="en-US" sz="1400" dirty="0">
                <a:solidFill>
                  <a:srgbClr val="6B7785"/>
                </a:solidFill>
              </a:rPr>
              <a:t>결과가 실제 결정에 어떻게 도움이 되는지</a:t>
            </a:r>
            <a:endParaRPr lang="en-US" sz="1400" dirty="0"/>
          </a:p>
        </p:txBody>
      </p:sp>
      <p:sp>
        <p:nvSpPr>
          <p:cNvPr id="14" name="Text 10"/>
          <p:cNvSpPr txBox="1"/>
          <p:nvPr/>
        </p:nvSpPr>
        <p:spPr>
          <a:xfrm>
            <a:off x="7315200" y="2926080"/>
            <a:ext cx="4069080" cy="365760"/>
          </a:xfrm>
          <a:prstGeom prst="rect">
            <a:avLst/>
          </a:prstGeom>
          <a:noFill/>
          <a:ln/>
        </p:spPr>
        <p:txBody>
          <a:bodyPr wrap="square" lIns="0" tIns="0" rIns="0" bIns="0" rtlCol="0" anchor="ctr"/>
          <a:lstStyle/>
          <a:p>
            <a:pPr indent="0" marL="0">
              <a:buNone/>
            </a:pPr>
            <a:r>
              <a:rPr lang="en-US" sz="1400" dirty="0">
                <a:solidFill>
                  <a:srgbClr val="6B7785"/>
                </a:solidFill>
              </a:rPr>
              <a:t>답: 슬라이드 </a:t>
            </a:r>
            <a:pPr indent="0" marL="0">
              <a:buNone/>
            </a:pPr>
            <a:r>
              <a:rPr lang="en-US" sz="1400" b="1" dirty="0">
                <a:solidFill>
                  <a:schemeClr val="accent1"/>
                </a:solidFill>
              </a:rPr>
              <a:t>6</a:t>
            </a:r>
            <a:endParaRPr lang="en-US" sz="1400" dirty="0"/>
          </a:p>
        </p:txBody>
      </p:sp>
      <p:sp>
        <p:nvSpPr>
          <p:cNvPr id="15" name="fb-card-2"/>
          <p:cNvSpPr/>
          <p:nvPr/>
        </p:nvSpPr>
        <p:spPr>
          <a:xfrm>
            <a:off x="548640" y="3703320"/>
            <a:ext cx="5440680" cy="201168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16" name="fb-2-dot"/>
          <p:cNvSpPr/>
          <p:nvPr/>
        </p:nvSpPr>
        <p:spPr>
          <a:xfrm>
            <a:off x="868680" y="4023360"/>
            <a:ext cx="640080" cy="640080"/>
          </a:xfrm>
          <a:prstGeom prst="ellipse">
            <a:avLst/>
          </a:prstGeom>
          <a:solidFill>
            <a:srgbClr val="DCE8F6"/>
          </a:solidFill>
          <a:ln w="12700">
            <a:solidFill>
              <a:srgbClr val="DCE8F6"/>
            </a:solidFill>
            <a:prstDash val="solid"/>
          </a:ln>
        </p:spPr>
      </p:sp>
      <p:pic>
        <p:nvPicPr>
          <p:cNvPr id="17" name="fb-2-icon" descr="fb-2">    </p:cNvPr>
          <p:cNvPicPr>
            <a:picLocks noChangeAspect="1"/>
          </p:cNvPicPr>
          <p:nvPr/>
        </p:nvPicPr>
        <p:blipFill>
          <a:blip r:embed="rId3"/>
          <a:stretch>
            <a:fillRect/>
          </a:stretch>
        </p:blipFill>
        <p:spPr>
          <a:xfrm>
            <a:off x="1028700" y="4183380"/>
            <a:ext cx="320040" cy="320040"/>
          </a:xfrm>
          <a:prstGeom prst="rect">
            <a:avLst/>
          </a:prstGeom>
        </p:spPr>
      </p:pic>
      <p:sp>
        <p:nvSpPr>
          <p:cNvPr id="18" name="Text 13"/>
          <p:cNvSpPr txBox="1"/>
          <p:nvPr/>
        </p:nvSpPr>
        <p:spPr>
          <a:xfrm>
            <a:off x="1691640" y="3977640"/>
            <a:ext cx="4069080" cy="731520"/>
          </a:xfrm>
          <a:prstGeom prst="rect">
            <a:avLst/>
          </a:prstGeom>
          <a:noFill/>
          <a:ln/>
        </p:spPr>
        <p:txBody>
          <a:bodyPr wrap="square" lIns="0" tIns="0" rIns="0" bIns="0" rtlCol="0" anchor="ctr"/>
          <a:lstStyle/>
          <a:p>
            <a:pPr indent="0" marL="0">
              <a:buNone/>
            </a:pPr>
            <a:r>
              <a:rPr lang="en-US" sz="1800" b="1" dirty="0">
                <a:solidFill>
                  <a:schemeClr val="tx1"/>
                </a:solidFill>
              </a:rPr>
              <a:t>직접 입력까지 해야 하나요?</a:t>
            </a:r>
            <a:endParaRPr lang="en-US" sz="1800" dirty="0"/>
          </a:p>
        </p:txBody>
      </p:sp>
      <p:sp>
        <p:nvSpPr>
          <p:cNvPr id="19" name="Text 14"/>
          <p:cNvSpPr txBox="1"/>
          <p:nvPr/>
        </p:nvSpPr>
        <p:spPr>
          <a:xfrm>
            <a:off x="1691640" y="4709160"/>
            <a:ext cx="4069080" cy="411480"/>
          </a:xfrm>
          <a:prstGeom prst="rect">
            <a:avLst/>
          </a:prstGeom>
          <a:noFill/>
          <a:ln/>
        </p:spPr>
        <p:txBody>
          <a:bodyPr wrap="square" lIns="0" tIns="0" rIns="0" bIns="0" rtlCol="0" anchor="ctr"/>
          <a:lstStyle/>
          <a:p>
            <a:pPr indent="0" marL="0">
              <a:buNone/>
            </a:pPr>
            <a:r>
              <a:rPr lang="en-US" sz="1400" dirty="0">
                <a:solidFill>
                  <a:srgbClr val="6B7785"/>
                </a:solidFill>
              </a:rPr>
              <a:t>계좌를 연동하는 토스 같은 서비스와의 차이</a:t>
            </a:r>
            <a:endParaRPr lang="en-US" sz="1400" dirty="0"/>
          </a:p>
        </p:txBody>
      </p:sp>
      <p:sp>
        <p:nvSpPr>
          <p:cNvPr id="20" name="Text 15"/>
          <p:cNvSpPr txBox="1"/>
          <p:nvPr/>
        </p:nvSpPr>
        <p:spPr>
          <a:xfrm>
            <a:off x="1691640" y="5166360"/>
            <a:ext cx="4069080" cy="365760"/>
          </a:xfrm>
          <a:prstGeom prst="rect">
            <a:avLst/>
          </a:prstGeom>
          <a:noFill/>
          <a:ln/>
        </p:spPr>
        <p:txBody>
          <a:bodyPr wrap="square" lIns="0" tIns="0" rIns="0" bIns="0" rtlCol="0" anchor="ctr"/>
          <a:lstStyle/>
          <a:p>
            <a:pPr indent="0" marL="0">
              <a:buNone/>
            </a:pPr>
            <a:r>
              <a:rPr lang="en-US" sz="1400" dirty="0">
                <a:solidFill>
                  <a:srgbClr val="6B7785"/>
                </a:solidFill>
              </a:rPr>
              <a:t>답: 슬라이드 </a:t>
            </a:r>
            <a:pPr indent="0" marL="0">
              <a:buNone/>
            </a:pPr>
            <a:r>
              <a:rPr lang="en-US" sz="1400" b="1" dirty="0">
                <a:solidFill>
                  <a:schemeClr val="accent1"/>
                </a:solidFill>
              </a:rPr>
              <a:t>7</a:t>
            </a:r>
            <a:endParaRPr lang="en-US" sz="1400" dirty="0"/>
          </a:p>
        </p:txBody>
      </p:sp>
      <p:sp>
        <p:nvSpPr>
          <p:cNvPr id="21" name="fb-card-3"/>
          <p:cNvSpPr/>
          <p:nvPr/>
        </p:nvSpPr>
        <p:spPr>
          <a:xfrm>
            <a:off x="6172200" y="3703320"/>
            <a:ext cx="5440680" cy="201168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22" name="fb-3-dot"/>
          <p:cNvSpPr/>
          <p:nvPr/>
        </p:nvSpPr>
        <p:spPr>
          <a:xfrm>
            <a:off x="6492240" y="4023360"/>
            <a:ext cx="640080" cy="640080"/>
          </a:xfrm>
          <a:prstGeom prst="ellipse">
            <a:avLst/>
          </a:prstGeom>
          <a:solidFill>
            <a:srgbClr val="DCE8F6"/>
          </a:solidFill>
          <a:ln w="12700">
            <a:solidFill>
              <a:srgbClr val="DCE8F6"/>
            </a:solidFill>
            <a:prstDash val="solid"/>
          </a:ln>
        </p:spPr>
      </p:sp>
      <p:pic>
        <p:nvPicPr>
          <p:cNvPr id="23" name="fb-3-icon" descr="fb-3">    </p:cNvPr>
          <p:cNvPicPr>
            <a:picLocks noChangeAspect="1"/>
          </p:cNvPicPr>
          <p:nvPr/>
        </p:nvPicPr>
        <p:blipFill>
          <a:blip r:embed="rId4"/>
          <a:stretch>
            <a:fillRect/>
          </a:stretch>
        </p:blipFill>
        <p:spPr>
          <a:xfrm>
            <a:off x="6652260" y="4183380"/>
            <a:ext cx="320040" cy="320040"/>
          </a:xfrm>
          <a:prstGeom prst="rect">
            <a:avLst/>
          </a:prstGeom>
        </p:spPr>
      </p:pic>
      <p:sp>
        <p:nvSpPr>
          <p:cNvPr id="24" name="Text 18"/>
          <p:cNvSpPr txBox="1"/>
          <p:nvPr/>
        </p:nvSpPr>
        <p:spPr>
          <a:xfrm>
            <a:off x="7315200" y="3977640"/>
            <a:ext cx="4069080" cy="731520"/>
          </a:xfrm>
          <a:prstGeom prst="rect">
            <a:avLst/>
          </a:prstGeom>
          <a:noFill/>
          <a:ln/>
        </p:spPr>
        <p:txBody>
          <a:bodyPr wrap="square" lIns="0" tIns="0" rIns="0" bIns="0" rtlCol="0" anchor="ctr"/>
          <a:lstStyle/>
          <a:p>
            <a:pPr indent="0" marL="0">
              <a:buNone/>
            </a:pPr>
            <a:r>
              <a:rPr lang="en-US" sz="1800" b="1" dirty="0">
                <a:solidFill>
                  <a:schemeClr val="tx1"/>
                </a:solidFill>
              </a:rPr>
              <a:t>'시뮬레이션'에 불과하지 않나요?</a:t>
            </a:r>
            <a:endParaRPr lang="en-US" sz="1800" dirty="0"/>
          </a:p>
        </p:txBody>
      </p:sp>
      <p:sp>
        <p:nvSpPr>
          <p:cNvPr id="25" name="Text 19"/>
          <p:cNvSpPr txBox="1"/>
          <p:nvPr/>
        </p:nvSpPr>
        <p:spPr>
          <a:xfrm>
            <a:off x="7315200" y="4709160"/>
            <a:ext cx="4069080" cy="411480"/>
          </a:xfrm>
          <a:prstGeom prst="rect">
            <a:avLst/>
          </a:prstGeom>
          <a:noFill/>
          <a:ln/>
        </p:spPr>
        <p:txBody>
          <a:bodyPr wrap="square" lIns="0" tIns="0" rIns="0" bIns="0" rtlCol="0" anchor="ctr"/>
          <a:lstStyle/>
          <a:p>
            <a:pPr indent="0" marL="0">
              <a:buNone/>
            </a:pPr>
            <a:r>
              <a:rPr lang="en-US" sz="1400" dirty="0">
                <a:solidFill>
                  <a:srgbClr val="6B7785"/>
                </a:solidFill>
              </a:rPr>
              <a:t>전체 흐름, 신뢰성과 평가 지표를 보여 달라</a:t>
            </a:r>
            <a:endParaRPr lang="en-US" sz="1400" dirty="0"/>
          </a:p>
        </p:txBody>
      </p:sp>
      <p:sp>
        <p:nvSpPr>
          <p:cNvPr id="26" name="Text 20"/>
          <p:cNvSpPr txBox="1"/>
          <p:nvPr/>
        </p:nvSpPr>
        <p:spPr>
          <a:xfrm>
            <a:off x="7315200" y="5166360"/>
            <a:ext cx="4069080" cy="365760"/>
          </a:xfrm>
          <a:prstGeom prst="rect">
            <a:avLst/>
          </a:prstGeom>
          <a:noFill/>
          <a:ln/>
        </p:spPr>
        <p:txBody>
          <a:bodyPr wrap="square" lIns="0" tIns="0" rIns="0" bIns="0" rtlCol="0" anchor="ctr"/>
          <a:lstStyle/>
          <a:p>
            <a:pPr indent="0" marL="0">
              <a:buNone/>
            </a:pPr>
            <a:r>
              <a:rPr lang="en-US" sz="1400" dirty="0">
                <a:solidFill>
                  <a:srgbClr val="6B7785"/>
                </a:solidFill>
              </a:rPr>
              <a:t>답: 슬라이드 </a:t>
            </a:r>
            <a:pPr indent="0" marL="0">
              <a:buNone/>
            </a:pPr>
            <a:r>
              <a:rPr lang="en-US" sz="1400" b="1" dirty="0">
                <a:solidFill>
                  <a:schemeClr val="accent1"/>
                </a:solidFill>
              </a:rPr>
              <a:t>8 · 9</a:t>
            </a:r>
            <a:endParaRPr lang="en-US" sz="1400" dirty="0"/>
          </a:p>
        </p:txBody>
      </p:sp>
      <p:sp>
        <p:nvSpPr>
          <p:cNvPr id="27" name="Text 2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dirty="0">
                <a:solidFill>
                  <a:srgbClr val="6B7785"/>
                </a:solidFill>
              </a:rPr>
              <a:t>출처: 2차 발표 피드백 (조교 메일, 2026-10-02), 1차 멘토링 교수님 피드백</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적금이 깨지는 이유는 계산기에 없는 일이에요</a:t>
            </a:r>
            <a:endParaRPr lang="en-US" sz="3000" dirty="0"/>
          </a:p>
        </p:txBody>
      </p:sp>
      <p:graphicFrame>
        <p:nvGraphicFramePr>
          <p:cNvPr id="3" name="reason-chart" descr=""/>
          <p:cNvGraphicFramePr/>
          <p:nvPr/>
        </p:nvGraphicFramePr>
        <p:xfrm>
          <a:off x="457200" y="137160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463040"/>
            <a:ext cx="5577840" cy="1737360"/>
          </a:xfrm>
          <a:prstGeom prst="rect">
            <a:avLst/>
          </a:prstGeom>
          <a:noFill/>
          <a:ln/>
        </p:spPr>
        <p:txBody>
          <a:bodyPr wrap="square" lIns="0" tIns="0" rIns="0" bIns="0" rtlCol="0" anchor="t"/>
          <a:lstStyle/>
          <a:p>
            <a:pPr indent="0" marL="0">
              <a:buNone/>
            </a:pPr>
            <a:r>
              <a:rPr lang="en-US" sz="6000" b="1" dirty="0">
                <a:solidFill>
                  <a:schemeClr val="accent2"/>
                </a:solidFill>
              </a:rPr>
              <a:t>72%</a:t>
            </a:r>
            <a:endParaRPr lang="en-US" sz="6000" dirty="0"/>
          </a:p>
          <a:p>
            <a:pPr indent="0" marL="0">
              <a:buNone/>
            </a:pPr>
            <a:r>
              <a:rPr lang="en-US" sz="2000" b="1" dirty="0">
                <a:solidFill>
                  <a:schemeClr val="tx1"/>
                </a:solidFill>
              </a:rPr>
              <a:t>실직이나 급한 지출 때문에 깨진 적금</a:t>
            </a:r>
            <a:endParaRPr lang="en-US" sz="6000" dirty="0"/>
          </a:p>
        </p:txBody>
      </p:sp>
      <p:sp>
        <p:nvSpPr>
          <p:cNvPr id="5" name="calc-card"/>
          <p:cNvSpPr/>
          <p:nvPr/>
        </p:nvSpPr>
        <p:spPr>
          <a:xfrm>
            <a:off x="6035040" y="3429000"/>
            <a:ext cx="5577840" cy="1143000"/>
          </a:xfrm>
          <a:prstGeom prst="roundRect">
            <a:avLst>
              <a:gd name="adj" fmla="val 9600"/>
            </a:avLst>
          </a:prstGeom>
          <a:solidFill>
            <a:srgbClr val="F2F5F9"/>
          </a:solidFill>
          <a:ln w="12700">
            <a:solidFill>
              <a:srgbClr val="F2F5F9"/>
            </a:solidFill>
            <a:prstDash val="solid"/>
          </a:ln>
        </p:spPr>
      </p:sp>
      <p:sp>
        <p:nvSpPr>
          <p:cNvPr id="6" name="calc-dot"/>
          <p:cNvSpPr/>
          <p:nvPr/>
        </p:nvSpPr>
        <p:spPr>
          <a:xfrm>
            <a:off x="6263640" y="3630168"/>
            <a:ext cx="731520" cy="731520"/>
          </a:xfrm>
          <a:prstGeom prst="ellipse">
            <a:avLst/>
          </a:prstGeom>
          <a:solidFill>
            <a:srgbClr val="FFFFFF"/>
          </a:solidFill>
          <a:ln w="12700">
            <a:solidFill>
              <a:srgbClr val="FFFFFF"/>
            </a:solidFill>
            <a:prstDash val="solid"/>
          </a:ln>
        </p:spPr>
      </p:sp>
      <p:pic>
        <p:nvPicPr>
          <p:cNvPr id="7" name="calc-icon" descr="calc">    </p:cNvPr>
          <p:cNvPicPr>
            <a:picLocks noChangeAspect="1"/>
          </p:cNvPicPr>
          <p:nvPr/>
        </p:nvPicPr>
        <p:blipFill>
          <a:blip r:embed="rId2"/>
          <a:stretch>
            <a:fillRect/>
          </a:stretch>
        </p:blipFill>
        <p:spPr>
          <a:xfrm>
            <a:off x="6446520" y="3813048"/>
            <a:ext cx="365760" cy="365760"/>
          </a:xfrm>
          <a:prstGeom prst="rect">
            <a:avLst/>
          </a:prstGeom>
        </p:spPr>
      </p:pic>
      <p:sp>
        <p:nvSpPr>
          <p:cNvPr id="8" name="Text 4"/>
          <p:cNvSpPr txBox="1"/>
          <p:nvPr/>
        </p:nvSpPr>
        <p:spPr>
          <a:xfrm>
            <a:off x="7178040" y="3520440"/>
            <a:ext cx="4297680" cy="960120"/>
          </a:xfrm>
          <a:prstGeom prst="rect">
            <a:avLst/>
          </a:prstGeom>
          <a:noFill/>
          <a:ln/>
        </p:spPr>
        <p:txBody>
          <a:bodyPr wrap="square" lIns="0" tIns="0" rIns="0" bIns="0" rtlCol="0" anchor="ctr"/>
          <a:lstStyle/>
          <a:p>
            <a:pPr indent="0" marL="0">
              <a:buNone/>
            </a:pPr>
            <a:r>
              <a:rPr lang="en-US" sz="1700" b="1" dirty="0">
                <a:solidFill>
                  <a:schemeClr val="tx1"/>
                </a:solidFill>
              </a:rPr>
              <a:t>계산기는 이 72%를 0으로 둬요</a:t>
            </a:r>
            <a:endParaRPr lang="en-US" sz="1700" dirty="0"/>
          </a:p>
          <a:p>
            <a:pPr indent="0" marL="0">
              <a:buNone/>
            </a:pPr>
            <a:r>
              <a:rPr lang="en-US" sz="1400" dirty="0">
                <a:solidFill>
                  <a:srgbClr val="6B7785"/>
                </a:solidFill>
              </a:rPr>
              <a:t>매달 계획대로 넣는다는 가정 하나로 만기액만 계산</a:t>
            </a:r>
            <a:endParaRPr lang="en-US" sz="1700" dirty="0"/>
          </a:p>
        </p:txBody>
      </p:sp>
      <p:sp>
        <p:nvSpPr>
          <p:cNvPr id="9" name="lit-card"/>
          <p:cNvSpPr/>
          <p:nvPr/>
        </p:nvSpPr>
        <p:spPr>
          <a:xfrm>
            <a:off x="6035040" y="4754880"/>
            <a:ext cx="5577840" cy="1143000"/>
          </a:xfrm>
          <a:prstGeom prst="roundRect">
            <a:avLst>
              <a:gd name="adj" fmla="val 9600"/>
            </a:avLst>
          </a:prstGeom>
          <a:solidFill>
            <a:srgbClr val="F2F5F9"/>
          </a:solidFill>
          <a:ln w="12700">
            <a:solidFill>
              <a:srgbClr val="F2F5F9"/>
            </a:solidFill>
            <a:prstDash val="solid"/>
          </a:ln>
        </p:spPr>
      </p:sp>
      <p:sp>
        <p:nvSpPr>
          <p:cNvPr id="10" name="lit-dot"/>
          <p:cNvSpPr/>
          <p:nvPr/>
        </p:nvSpPr>
        <p:spPr>
          <a:xfrm>
            <a:off x="6263640" y="4956048"/>
            <a:ext cx="731520" cy="731520"/>
          </a:xfrm>
          <a:prstGeom prst="ellipse">
            <a:avLst/>
          </a:prstGeom>
          <a:solidFill>
            <a:srgbClr val="FFFFFF"/>
          </a:solidFill>
          <a:ln w="12700">
            <a:solidFill>
              <a:srgbClr val="FFFFFF"/>
            </a:solidFill>
            <a:prstDash val="solid"/>
          </a:ln>
        </p:spPr>
      </p:sp>
      <p:pic>
        <p:nvPicPr>
          <p:cNvPr id="11" name="lit-icon" descr="lit">    </p:cNvPr>
          <p:cNvPicPr>
            <a:picLocks noChangeAspect="1"/>
          </p:cNvPicPr>
          <p:nvPr/>
        </p:nvPicPr>
        <p:blipFill>
          <a:blip r:embed="rId3"/>
          <a:stretch>
            <a:fillRect/>
          </a:stretch>
        </p:blipFill>
        <p:spPr>
          <a:xfrm>
            <a:off x="6446520" y="5138928"/>
            <a:ext cx="365760" cy="365760"/>
          </a:xfrm>
          <a:prstGeom prst="rect">
            <a:avLst/>
          </a:prstGeom>
        </p:spPr>
      </p:pic>
      <p:sp>
        <p:nvSpPr>
          <p:cNvPr id="12" name="Text 7"/>
          <p:cNvSpPr txBox="1"/>
          <p:nvPr/>
        </p:nvSpPr>
        <p:spPr>
          <a:xfrm>
            <a:off x="7178040" y="4846320"/>
            <a:ext cx="4297680" cy="960120"/>
          </a:xfrm>
          <a:prstGeom prst="rect">
            <a:avLst/>
          </a:prstGeom>
          <a:noFill/>
          <a:ln/>
        </p:spPr>
        <p:txBody>
          <a:bodyPr wrap="square" lIns="0" tIns="0" rIns="0" bIns="0" rtlCol="0" anchor="ctr"/>
          <a:lstStyle/>
          <a:p>
            <a:pPr indent="0" marL="0">
              <a:buNone/>
            </a:pPr>
            <a:r>
              <a:rPr lang="en-US" sz="1700" b="1" dirty="0">
                <a:solidFill>
                  <a:schemeClr val="tx1"/>
                </a:solidFill>
              </a:rPr>
              <a:t>청년 절반은 예금 계산도 틀려요</a:t>
            </a:r>
            <a:endParaRPr lang="en-US" sz="1700" dirty="0"/>
          </a:p>
          <a:p>
            <a:pPr indent="0" marL="0">
              <a:buNone/>
            </a:pPr>
            <a:r>
              <a:rPr lang="en-US" sz="1400" dirty="0">
                <a:solidFill>
                  <a:srgbClr val="6B7785"/>
                </a:solidFill>
              </a:rPr>
              <a:t>‘5년 뒤 예금이 얼마가 되나’ 정답률 48.8%</a:t>
            </a:r>
            <a:endParaRPr lang="en-US" sz="1700" dirty="0"/>
          </a:p>
        </p:txBody>
      </p:sp>
      <p:sp>
        <p:nvSpPr>
          <p:cNvPr id="13" name="Text 8"/>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dirty="0">
                <a:solidFill>
                  <a:srgbClr val="6B7785"/>
                </a:solidFill>
              </a:rPr>
              <a:t>출처: 서민금융진흥원 2024·2025 청년금융 실태조사 (설계 보고서 1.1)</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같은 입력인데, 답이 달라요</a:t>
            </a:r>
            <a:endParaRPr lang="en-US" sz="3000" dirty="0"/>
          </a:p>
        </p:txBody>
      </p:sp>
      <p:sp>
        <p:nvSpPr>
          <p:cNvPr id="3" name="Text 1"/>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500" dirty="0">
                <a:solidFill>
                  <a:srgbClr val="6B7785"/>
                </a:solidFill>
              </a:rPr>
              <a:t>27세 개발자 · 실수령 250만 원 · 월 저축 50만 원 · 학자금 1,200만 원 · 목표 ‘5년 뒤 3,000만 원’</a:t>
            </a:r>
            <a:endParaRPr lang="en-US" sz="1500" dirty="0"/>
          </a:p>
        </p:txBody>
      </p:sp>
      <p:sp>
        <p:nvSpPr>
          <p:cNvPr id="4" name="left-card"/>
          <p:cNvSpPr/>
          <p:nvPr/>
        </p:nvSpPr>
        <p:spPr>
          <a:xfrm>
            <a:off x="548640" y="1737360"/>
            <a:ext cx="4572000" cy="4114800"/>
          </a:xfrm>
          <a:prstGeom prst="roundRect">
            <a:avLst>
              <a:gd name="adj" fmla="val 2667"/>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5" name="calc2-dot"/>
          <p:cNvSpPr/>
          <p:nvPr/>
        </p:nvSpPr>
        <p:spPr>
          <a:xfrm>
            <a:off x="868680" y="2011680"/>
            <a:ext cx="640080" cy="640080"/>
          </a:xfrm>
          <a:prstGeom prst="ellipse">
            <a:avLst/>
          </a:prstGeom>
          <a:solidFill>
            <a:srgbClr val="FFFFFF"/>
          </a:solidFill>
          <a:ln w="12700">
            <a:solidFill>
              <a:srgbClr val="FFFFFF"/>
            </a:solidFill>
            <a:prstDash val="solid"/>
          </a:ln>
        </p:spPr>
      </p:sp>
      <p:pic>
        <p:nvPicPr>
          <p:cNvPr id="6" name="calc2-icon" descr="calc2">    </p:cNvPr>
          <p:cNvPicPr>
            <a:picLocks noChangeAspect="1"/>
          </p:cNvPicPr>
          <p:nvPr/>
        </p:nvPicPr>
        <p:blipFill>
          <a:blip r:embed="rId1"/>
          <a:stretch>
            <a:fillRect/>
          </a:stretch>
        </p:blipFill>
        <p:spPr>
          <a:xfrm>
            <a:off x="1028700" y="2171700"/>
            <a:ext cx="320040" cy="320040"/>
          </a:xfrm>
          <a:prstGeom prst="rect">
            <a:avLst/>
          </a:prstGeom>
        </p:spPr>
      </p:pic>
      <p:sp>
        <p:nvSpPr>
          <p:cNvPr id="7" name="Text 4"/>
          <p:cNvSpPr txBox="1"/>
          <p:nvPr/>
        </p:nvSpPr>
        <p:spPr>
          <a:xfrm>
            <a:off x="1691640" y="2011680"/>
            <a:ext cx="3200400" cy="640080"/>
          </a:xfrm>
          <a:prstGeom prst="rect">
            <a:avLst/>
          </a:prstGeom>
          <a:noFill/>
          <a:ln/>
        </p:spPr>
        <p:txBody>
          <a:bodyPr wrap="square" lIns="0" tIns="0" rIns="0" bIns="0" rtlCol="0" anchor="ctr"/>
          <a:lstStyle/>
          <a:p>
            <a:pPr indent="0" marL="0">
              <a:buNone/>
            </a:pPr>
            <a:r>
              <a:rPr lang="en-US" sz="2000" b="1" dirty="0">
                <a:solidFill>
                  <a:schemeClr val="tx1"/>
                </a:solidFill>
              </a:rPr>
              <a:t>적금 계산기</a:t>
            </a:r>
            <a:endParaRPr lang="en-US" sz="2000" dirty="0"/>
          </a:p>
        </p:txBody>
      </p:sp>
      <p:sp>
        <p:nvSpPr>
          <p:cNvPr id="8" name="Text 5"/>
          <p:cNvSpPr txBox="1"/>
          <p:nvPr/>
        </p:nvSpPr>
        <p:spPr>
          <a:xfrm>
            <a:off x="868680" y="2926080"/>
            <a:ext cx="4023360" cy="914400"/>
          </a:xfrm>
          <a:prstGeom prst="rect">
            <a:avLst/>
          </a:prstGeom>
          <a:noFill/>
          <a:ln/>
        </p:spPr>
        <p:txBody>
          <a:bodyPr wrap="square" lIns="0" tIns="0" rIns="0" bIns="0" rtlCol="0" anchor="ctr"/>
          <a:lstStyle/>
          <a:p>
            <a:pPr indent="0" marL="0">
              <a:buNone/>
            </a:pPr>
            <a:r>
              <a:rPr lang="en-US" sz="4800" b="1" dirty="0">
                <a:solidFill>
                  <a:srgbClr val="6B7785"/>
                </a:solidFill>
              </a:rPr>
              <a:t>4,440만 원</a:t>
            </a:r>
            <a:endParaRPr lang="en-US" sz="4800" dirty="0"/>
          </a:p>
        </p:txBody>
      </p:sp>
      <p:sp>
        <p:nvSpPr>
          <p:cNvPr id="9" name="Text 6"/>
          <p:cNvSpPr txBox="1"/>
          <p:nvPr/>
        </p:nvSpPr>
        <p:spPr>
          <a:xfrm>
            <a:off x="868680" y="3886200"/>
            <a:ext cx="4023360" cy="411480"/>
          </a:xfrm>
          <a:prstGeom prst="rect">
            <a:avLst/>
          </a:prstGeom>
          <a:noFill/>
          <a:ln/>
        </p:spPr>
        <p:txBody>
          <a:bodyPr wrap="square" lIns="0" tIns="0" rIns="0" bIns="0" rtlCol="0" anchor="ctr"/>
          <a:lstStyle/>
          <a:p>
            <a:pPr indent="0" marL="0">
              <a:buNone/>
            </a:pPr>
            <a:r>
              <a:rPr lang="en-US" sz="1700" b="1" dirty="0">
                <a:solidFill>
                  <a:schemeClr val="tx1"/>
                </a:solidFill>
              </a:rPr>
              <a:t>목표 3,000만 원을 넉넉히 넘어요</a:t>
            </a:r>
            <a:endParaRPr lang="en-US" sz="1700" dirty="0"/>
          </a:p>
        </p:txBody>
      </p:sp>
      <p:sp>
        <p:nvSpPr>
          <p:cNvPr id="10" name="Text 7"/>
          <p:cNvSpPr txBox="1"/>
          <p:nvPr/>
        </p:nvSpPr>
        <p:spPr>
          <a:xfrm>
            <a:off x="868680" y="4480560"/>
            <a:ext cx="4023360" cy="914400"/>
          </a:xfrm>
          <a:prstGeom prst="rect">
            <a:avLst/>
          </a:prstGeom>
          <a:noFill/>
          <a:ln/>
        </p:spPr>
        <p:txBody>
          <a:bodyPr wrap="square" lIns="0" tIns="0" rIns="0" bIns="0" rtlCol="0" anchor="t"/>
          <a:lstStyle/>
          <a:p>
            <a:pPr indent="0" marL="0">
              <a:buNone/>
            </a:pPr>
            <a:r>
              <a:rPr lang="en-US" sz="1400" dirty="0">
                <a:solidFill>
                  <a:srgbClr val="6B7785"/>
                </a:solidFill>
              </a:rPr>
              <a:t>실직·급한 지출·물가·연봉 변화가</a:t>
            </a:r>
            <a:endParaRPr lang="en-US" sz="1400" dirty="0"/>
          </a:p>
          <a:p>
            <a:pPr indent="0" marL="0">
              <a:buNone/>
            </a:pPr>
            <a:r>
              <a:rPr lang="en-US" sz="1400" dirty="0">
                <a:solidFill>
                  <a:srgbClr val="6B7785"/>
                </a:solidFill>
              </a:rPr>
              <a:t>하나도 없다고 가정</a:t>
            </a:r>
            <a:endParaRPr lang="en-US" sz="1400" dirty="0"/>
          </a:p>
        </p:txBody>
      </p:sp>
      <p:sp>
        <p:nvSpPr>
          <p:cNvPr id="11" name="vs-arrow"/>
          <p:cNvSpPr/>
          <p:nvPr/>
        </p:nvSpPr>
        <p:spPr>
          <a:xfrm>
            <a:off x="5303520" y="3520440"/>
            <a:ext cx="548640" cy="457200"/>
          </a:xfrm>
          <a:prstGeom prst="rightArrow">
            <a:avLst/>
          </a:prstGeom>
          <a:solidFill>
            <a:schemeClr val="accent3"/>
          </a:solidFill>
          <a:ln w="12700">
            <a:solidFill>
              <a:schemeClr val="accent3"/>
            </a:solidFill>
            <a:prstDash val="solid"/>
          </a:ln>
        </p:spPr>
      </p:sp>
      <p:sp>
        <p:nvSpPr>
          <p:cNvPr id="12" name="right-card"/>
          <p:cNvSpPr/>
          <p:nvPr/>
        </p:nvSpPr>
        <p:spPr>
          <a:xfrm>
            <a:off x="6035040" y="1737360"/>
            <a:ext cx="5577840" cy="4114800"/>
          </a:xfrm>
          <a:prstGeom prst="roundRect">
            <a:avLst>
              <a:gd name="adj" fmla="val 2667"/>
            </a:avLst>
          </a:prstGeom>
          <a:solidFill>
            <a:srgbClr val="FBE6D6"/>
          </a:solidFill>
          <a:ln w="12700">
            <a:solidFill>
              <a:srgbClr val="FBE6D6"/>
            </a:solidFill>
            <a:prstDash val="solid"/>
          </a:ln>
          <a:effectLst>
            <a:outerShdw sx="100000" sy="100000" kx="0" ky="0" algn="bl" rotWithShape="0" blurRad="101600" dist="25400" dir="5400000">
              <a:srgbClr val="000000">
                <a:alpha val="12000"/>
              </a:srgbClr>
            </a:outerShdw>
          </a:effectLst>
        </p:spPr>
      </p:sp>
      <p:sp>
        <p:nvSpPr>
          <p:cNvPr id="13" name="sim-dot"/>
          <p:cNvSpPr/>
          <p:nvPr/>
        </p:nvSpPr>
        <p:spPr>
          <a:xfrm>
            <a:off x="6355080" y="2011680"/>
            <a:ext cx="640080" cy="640080"/>
          </a:xfrm>
          <a:prstGeom prst="ellipse">
            <a:avLst/>
          </a:prstGeom>
          <a:solidFill>
            <a:srgbClr val="FFFFFF"/>
          </a:solidFill>
          <a:ln w="12700">
            <a:solidFill>
              <a:srgbClr val="FFFFFF"/>
            </a:solidFill>
            <a:prstDash val="solid"/>
          </a:ln>
        </p:spPr>
      </p:sp>
      <p:pic>
        <p:nvPicPr>
          <p:cNvPr id="14" name="sim-icon" descr="sim">    </p:cNvPr>
          <p:cNvPicPr>
            <a:picLocks noChangeAspect="1"/>
          </p:cNvPicPr>
          <p:nvPr/>
        </p:nvPicPr>
        <p:blipFill>
          <a:blip r:embed="rId2"/>
          <a:stretch>
            <a:fillRect/>
          </a:stretch>
        </p:blipFill>
        <p:spPr>
          <a:xfrm>
            <a:off x="6515100" y="2171700"/>
            <a:ext cx="320040" cy="320040"/>
          </a:xfrm>
          <a:prstGeom prst="rect">
            <a:avLst/>
          </a:prstGeom>
        </p:spPr>
      </p:pic>
      <p:sp>
        <p:nvSpPr>
          <p:cNvPr id="15" name="Text 11"/>
          <p:cNvSpPr txBox="1"/>
          <p:nvPr/>
        </p:nvSpPr>
        <p:spPr>
          <a:xfrm>
            <a:off x="7178040" y="2011680"/>
            <a:ext cx="4297680" cy="640080"/>
          </a:xfrm>
          <a:prstGeom prst="rect">
            <a:avLst/>
          </a:prstGeom>
          <a:noFill/>
          <a:ln/>
        </p:spPr>
        <p:txBody>
          <a:bodyPr wrap="square" lIns="0" tIns="0" rIns="0" bIns="0" rtlCol="0" anchor="ctr"/>
          <a:lstStyle/>
          <a:p>
            <a:pPr indent="0" marL="0">
              <a:buNone/>
            </a:pPr>
            <a:r>
              <a:rPr lang="en-US" sz="2000" b="1" dirty="0">
                <a:solidFill>
                  <a:schemeClr val="tx1"/>
                </a:solidFill>
              </a:rPr>
              <a:t>우리 시뮬레이터 (미래 2,000개)</a:t>
            </a:r>
            <a:endParaRPr lang="en-US" sz="2000" dirty="0"/>
          </a:p>
        </p:txBody>
      </p:sp>
      <p:sp>
        <p:nvSpPr>
          <p:cNvPr id="16" name="Text 12"/>
          <p:cNvSpPr txBox="1"/>
          <p:nvPr/>
        </p:nvSpPr>
        <p:spPr>
          <a:xfrm>
            <a:off x="6355080" y="2926080"/>
            <a:ext cx="5120640" cy="914400"/>
          </a:xfrm>
          <a:prstGeom prst="rect">
            <a:avLst/>
          </a:prstGeom>
          <a:noFill/>
          <a:ln/>
        </p:spPr>
        <p:txBody>
          <a:bodyPr wrap="square" lIns="0" tIns="0" rIns="0" bIns="0" rtlCol="0" anchor="ctr"/>
          <a:lstStyle/>
          <a:p>
            <a:pPr indent="0" marL="0">
              <a:buNone/>
            </a:pPr>
            <a:r>
              <a:rPr lang="en-US" sz="4800" b="1" dirty="0">
                <a:solidFill>
                  <a:schemeClr val="accent2"/>
                </a:solidFill>
              </a:rPr>
              <a:t>약 58%</a:t>
            </a:r>
            <a:pPr indent="0" marL="0">
              <a:buNone/>
            </a:pPr>
            <a:r>
              <a:rPr lang="en-US" sz="1800" b="1" dirty="0">
                <a:solidFill>
                  <a:schemeClr val="tx1"/>
                </a:solidFill>
              </a:rPr>
              <a:t>  달성 가능성</a:t>
            </a:r>
            <a:endParaRPr lang="en-US" sz="4800" dirty="0"/>
          </a:p>
        </p:txBody>
      </p:sp>
      <p:sp>
        <p:nvSpPr>
          <p:cNvPr id="17" name="Text 13"/>
          <p:cNvSpPr txBox="1"/>
          <p:nvPr/>
        </p:nvSpPr>
        <p:spPr>
          <a:xfrm>
            <a:off x="6355080" y="4023360"/>
            <a:ext cx="2926080" cy="457200"/>
          </a:xfrm>
          <a:prstGeom prst="rect">
            <a:avLst/>
          </a:prstGeom>
          <a:noFill/>
          <a:ln/>
        </p:spPr>
        <p:txBody>
          <a:bodyPr wrap="square" lIns="0" tIns="0" rIns="0" bIns="0" rtlCol="0" anchor="ctr"/>
          <a:lstStyle/>
          <a:p>
            <a:pPr indent="0" marL="0">
              <a:buNone/>
            </a:pPr>
            <a:r>
              <a:rPr lang="en-US" sz="1500" dirty="0">
                <a:solidFill>
                  <a:schemeClr val="tx1"/>
                </a:solidFill>
              </a:rPr>
              <a:t>가운데 값</a:t>
            </a:r>
            <a:endParaRPr lang="en-US" sz="1500" dirty="0"/>
          </a:p>
        </p:txBody>
      </p:sp>
      <p:sp>
        <p:nvSpPr>
          <p:cNvPr id="18" name="Text 14"/>
          <p:cNvSpPr txBox="1"/>
          <p:nvPr/>
        </p:nvSpPr>
        <p:spPr>
          <a:xfrm>
            <a:off x="9235440" y="4023360"/>
            <a:ext cx="2194560" cy="457200"/>
          </a:xfrm>
          <a:prstGeom prst="rect">
            <a:avLst/>
          </a:prstGeom>
          <a:noFill/>
          <a:ln/>
        </p:spPr>
        <p:txBody>
          <a:bodyPr wrap="square" lIns="0" tIns="0" rIns="0" bIns="0" rtlCol="0" anchor="ctr"/>
          <a:lstStyle/>
          <a:p>
            <a:pPr algn="r" indent="0" marL="0">
              <a:buNone/>
            </a:pPr>
            <a:r>
              <a:rPr lang="en-US" sz="1700" b="1" dirty="0">
                <a:solidFill>
                  <a:schemeClr val="tx1"/>
                </a:solidFill>
              </a:rPr>
              <a:t>3,389만 원</a:t>
            </a:r>
            <a:endParaRPr lang="en-US" sz="1700" dirty="0"/>
          </a:p>
        </p:txBody>
      </p:sp>
      <p:sp>
        <p:nvSpPr>
          <p:cNvPr id="19" name="Text 15"/>
          <p:cNvSpPr txBox="1"/>
          <p:nvPr/>
        </p:nvSpPr>
        <p:spPr>
          <a:xfrm>
            <a:off x="6355080" y="4572000"/>
            <a:ext cx="2926080" cy="457200"/>
          </a:xfrm>
          <a:prstGeom prst="rect">
            <a:avLst/>
          </a:prstGeom>
          <a:noFill/>
          <a:ln/>
        </p:spPr>
        <p:txBody>
          <a:bodyPr wrap="square" lIns="0" tIns="0" rIns="0" bIns="0" rtlCol="0" anchor="ctr"/>
          <a:lstStyle/>
          <a:p>
            <a:pPr indent="0" marL="0">
              <a:buNone/>
            </a:pPr>
            <a:r>
              <a:rPr lang="en-US" sz="1500" dirty="0">
                <a:solidFill>
                  <a:schemeClr val="tx1"/>
                </a:solidFill>
              </a:rPr>
              <a:t>5년 안에 빚질 가능성</a:t>
            </a:r>
            <a:endParaRPr lang="en-US" sz="1500" dirty="0"/>
          </a:p>
        </p:txBody>
      </p:sp>
      <p:sp>
        <p:nvSpPr>
          <p:cNvPr id="20" name="Text 16"/>
          <p:cNvSpPr txBox="1"/>
          <p:nvPr/>
        </p:nvSpPr>
        <p:spPr>
          <a:xfrm>
            <a:off x="9235440" y="4572000"/>
            <a:ext cx="2194560" cy="457200"/>
          </a:xfrm>
          <a:prstGeom prst="rect">
            <a:avLst/>
          </a:prstGeom>
          <a:noFill/>
          <a:ln/>
        </p:spPr>
        <p:txBody>
          <a:bodyPr wrap="square" lIns="0" tIns="0" rIns="0" bIns="0" rtlCol="0" anchor="ctr"/>
          <a:lstStyle/>
          <a:p>
            <a:pPr algn="r" indent="0" marL="0">
              <a:buNone/>
            </a:pPr>
            <a:r>
              <a:rPr lang="en-US" sz="1700" b="1" dirty="0">
                <a:solidFill>
                  <a:schemeClr val="tx1"/>
                </a:solidFill>
              </a:rPr>
              <a:t>19%</a:t>
            </a:r>
            <a:endParaRPr lang="en-US" sz="1700" dirty="0"/>
          </a:p>
        </p:txBody>
      </p:sp>
      <p:sp>
        <p:nvSpPr>
          <p:cNvPr id="21" name="Text 17"/>
          <p:cNvSpPr txBox="1"/>
          <p:nvPr/>
        </p:nvSpPr>
        <p:spPr>
          <a:xfrm>
            <a:off x="6355080" y="5120640"/>
            <a:ext cx="2926080" cy="457200"/>
          </a:xfrm>
          <a:prstGeom prst="rect">
            <a:avLst/>
          </a:prstGeom>
          <a:noFill/>
          <a:ln/>
        </p:spPr>
        <p:txBody>
          <a:bodyPr wrap="square" lIns="0" tIns="0" rIns="0" bIns="0" rtlCol="0" anchor="ctr"/>
          <a:lstStyle/>
          <a:p>
            <a:pPr indent="0" marL="0">
              <a:buNone/>
            </a:pPr>
            <a:r>
              <a:rPr lang="en-US" sz="1500" dirty="0">
                <a:solidFill>
                  <a:schemeClr val="tx1"/>
                </a:solidFill>
              </a:rPr>
              <a:t>최악의 경우 (하위 5%)</a:t>
            </a:r>
            <a:endParaRPr lang="en-US" sz="1500" dirty="0"/>
          </a:p>
        </p:txBody>
      </p:sp>
      <p:sp>
        <p:nvSpPr>
          <p:cNvPr id="22" name="Text 18"/>
          <p:cNvSpPr txBox="1"/>
          <p:nvPr/>
        </p:nvSpPr>
        <p:spPr>
          <a:xfrm>
            <a:off x="9235440" y="5120640"/>
            <a:ext cx="2194560" cy="457200"/>
          </a:xfrm>
          <a:prstGeom prst="rect">
            <a:avLst/>
          </a:prstGeom>
          <a:noFill/>
          <a:ln/>
        </p:spPr>
        <p:txBody>
          <a:bodyPr wrap="square" lIns="0" tIns="0" rIns="0" bIns="0" rtlCol="0" anchor="ctr"/>
          <a:lstStyle/>
          <a:p>
            <a:pPr algn="r" indent="0" marL="0">
              <a:buNone/>
            </a:pPr>
            <a:r>
              <a:rPr lang="en-US" sz="1700" b="1" dirty="0">
                <a:solidFill>
                  <a:schemeClr val="tx1"/>
                </a:solidFill>
              </a:rPr>
              <a:t>빚 1,599만 원</a:t>
            </a:r>
            <a:endParaRPr lang="en-US" sz="1700" dirty="0"/>
          </a:p>
        </p:txBody>
      </p:sp>
      <p:sp>
        <p:nvSpPr>
          <p:cNvPr id="23" name="Text 19"/>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dirty="0">
                <a:solidFill>
                  <a:srgbClr val="6B7785"/>
                </a:solidFill>
              </a:rPr>
              <a:t>파이썬 기준 구현 결과 (설계 보고서 1.6·3.1). 가능성 숫자 자체는 가정에 따라 47~82%라 화면에는 범위와 함께 보여 줘요</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평균을 넣은 한 번의 계산으로는 안 보여요</a:t>
            </a:r>
            <a:endParaRPr lang="en-US" sz="3000" dirty="0"/>
          </a:p>
        </p:txBody>
      </p:sp>
      <p:sp>
        <p:nvSpPr>
          <p:cNvPr id="3" name="Text 1"/>
          <p:cNvSpPr txBox="1"/>
          <p:nvPr/>
        </p:nvSpPr>
        <p:spPr>
          <a:xfrm>
            <a:off x="548640" y="1325880"/>
            <a:ext cx="10972800" cy="411480"/>
          </a:xfrm>
          <a:prstGeom prst="rect">
            <a:avLst/>
          </a:prstGeom>
          <a:noFill/>
          <a:ln/>
        </p:spPr>
        <p:txBody>
          <a:bodyPr wrap="square" lIns="0" tIns="0" rIns="0" bIns="0" rtlCol="0" anchor="ctr"/>
          <a:lstStyle/>
          <a:p>
            <a:pPr indent="0" marL="0">
              <a:buNone/>
            </a:pPr>
            <a:r>
              <a:rPr lang="en-US" sz="1800" b="1" dirty="0">
                <a:solidFill>
                  <a:schemeClr val="tx1"/>
                </a:solidFill>
              </a:rPr>
              <a:t>S1에서 적금이 깨지는 가장 흔한 미래</a:t>
            </a:r>
            <a:endParaRPr lang="en-US" sz="1800" dirty="0"/>
          </a:p>
        </p:txBody>
      </p:sp>
      <p:sp>
        <p:nvSpPr>
          <p:cNvPr id="4" name="timeline"/>
          <p:cNvSpPr/>
          <p:nvPr/>
        </p:nvSpPr>
        <p:spPr>
          <a:xfrm>
            <a:off x="822960" y="2514600"/>
            <a:ext cx="8503920" cy="0"/>
          </a:xfrm>
          <a:prstGeom prst="line">
            <a:avLst/>
          </a:prstGeom>
          <a:noFill/>
          <a:ln w="25400">
            <a:solidFill>
              <a:schemeClr val="accent3"/>
            </a:solidFill>
            <a:prstDash val="solid"/>
          </a:ln>
        </p:spPr>
      </p:sp>
      <p:sp>
        <p:nvSpPr>
          <p:cNvPr id="5" name="tl-dot-0"/>
          <p:cNvSpPr/>
          <p:nvPr/>
        </p:nvSpPr>
        <p:spPr>
          <a:xfrm>
            <a:off x="667512" y="2359152"/>
            <a:ext cx="310896" cy="310896"/>
          </a:xfrm>
          <a:prstGeom prst="ellipse">
            <a:avLst/>
          </a:prstGeom>
          <a:solidFill>
            <a:schemeClr val="accent1"/>
          </a:solidFill>
          <a:ln w="25400">
            <a:solidFill>
              <a:srgbClr val="FFFFFF"/>
            </a:solidFill>
            <a:prstDash val="solid"/>
          </a:ln>
        </p:spPr>
      </p:sp>
      <p:sp>
        <p:nvSpPr>
          <p:cNvPr id="6" name="Text 4"/>
          <p:cNvSpPr txBox="1"/>
          <p:nvPr/>
        </p:nvSpPr>
        <p:spPr>
          <a:xfrm>
            <a:off x="667512" y="1874520"/>
            <a:ext cx="2926080" cy="365760"/>
          </a:xfrm>
          <a:prstGeom prst="rect">
            <a:avLst/>
          </a:prstGeom>
          <a:noFill/>
          <a:ln/>
        </p:spPr>
        <p:txBody>
          <a:bodyPr wrap="square" lIns="0" tIns="0" rIns="0" bIns="0" rtlCol="0" anchor="ctr"/>
          <a:lstStyle/>
          <a:p>
            <a:pPr indent="0" marL="0">
              <a:buNone/>
            </a:pPr>
            <a:r>
              <a:rPr lang="en-US" sz="1400" b="1" dirty="0">
                <a:solidFill>
                  <a:schemeClr val="accent1"/>
                </a:solidFill>
              </a:rPr>
              <a:t>1개월</a:t>
            </a:r>
            <a:endParaRPr lang="en-US" sz="1400" dirty="0"/>
          </a:p>
        </p:txBody>
      </p:sp>
      <p:sp>
        <p:nvSpPr>
          <p:cNvPr id="7" name="Text 5"/>
          <p:cNvSpPr txBox="1"/>
          <p:nvPr/>
        </p:nvSpPr>
        <p:spPr>
          <a:xfrm>
            <a:off x="667512" y="2834640"/>
            <a:ext cx="2697480" cy="731520"/>
          </a:xfrm>
          <a:prstGeom prst="rect">
            <a:avLst/>
          </a:prstGeom>
          <a:noFill/>
          <a:ln/>
        </p:spPr>
        <p:txBody>
          <a:bodyPr wrap="square" lIns="0" tIns="0" rIns="0" bIns="0" rtlCol="0" anchor="t"/>
          <a:lstStyle/>
          <a:p>
            <a:pPr indent="0" marL="0">
              <a:buNone/>
            </a:pPr>
            <a:r>
              <a:rPr lang="en-US" sz="1500" b="1" dirty="0">
                <a:solidFill>
                  <a:schemeClr val="tx1"/>
                </a:solidFill>
              </a:rPr>
              <a:t>적금 시작</a:t>
            </a:r>
            <a:endParaRPr lang="en-US" sz="1500" dirty="0"/>
          </a:p>
          <a:p>
            <a:pPr indent="0" marL="0">
              <a:buNone/>
            </a:pPr>
            <a:r>
              <a:rPr lang="en-US" sz="1300" dirty="0">
                <a:solidFill>
                  <a:srgbClr val="6B7785"/>
                </a:solidFill>
              </a:rPr>
              <a:t>월 50만 원</a:t>
            </a:r>
            <a:endParaRPr lang="en-US" sz="1500" dirty="0"/>
          </a:p>
        </p:txBody>
      </p:sp>
      <p:sp>
        <p:nvSpPr>
          <p:cNvPr id="8" name="tl-dot-1"/>
          <p:cNvSpPr/>
          <p:nvPr/>
        </p:nvSpPr>
        <p:spPr>
          <a:xfrm>
            <a:off x="3502152" y="2359152"/>
            <a:ext cx="310896" cy="310896"/>
          </a:xfrm>
          <a:prstGeom prst="ellipse">
            <a:avLst/>
          </a:prstGeom>
          <a:solidFill>
            <a:schemeClr val="accent2"/>
          </a:solidFill>
          <a:ln w="25400">
            <a:solidFill>
              <a:srgbClr val="FFFFFF"/>
            </a:solidFill>
            <a:prstDash val="solid"/>
          </a:ln>
        </p:spPr>
      </p:sp>
      <p:sp>
        <p:nvSpPr>
          <p:cNvPr id="9" name="Text 7"/>
          <p:cNvSpPr txBox="1"/>
          <p:nvPr/>
        </p:nvSpPr>
        <p:spPr>
          <a:xfrm>
            <a:off x="3502152" y="1874520"/>
            <a:ext cx="2926080" cy="365760"/>
          </a:xfrm>
          <a:prstGeom prst="rect">
            <a:avLst/>
          </a:prstGeom>
          <a:noFill/>
          <a:ln/>
        </p:spPr>
        <p:txBody>
          <a:bodyPr wrap="square" lIns="0" tIns="0" rIns="0" bIns="0" rtlCol="0" anchor="ctr"/>
          <a:lstStyle/>
          <a:p>
            <a:pPr indent="0" marL="0">
              <a:buNone/>
            </a:pPr>
            <a:r>
              <a:rPr lang="en-US" sz="1400" b="1" dirty="0">
                <a:solidFill>
                  <a:schemeClr val="accent2"/>
                </a:solidFill>
              </a:rPr>
              <a:t>19개월</a:t>
            </a:r>
            <a:endParaRPr lang="en-US" sz="1400" dirty="0"/>
          </a:p>
        </p:txBody>
      </p:sp>
      <p:sp>
        <p:nvSpPr>
          <p:cNvPr id="10" name="Text 8"/>
          <p:cNvSpPr txBox="1"/>
          <p:nvPr/>
        </p:nvSpPr>
        <p:spPr>
          <a:xfrm>
            <a:off x="3502152" y="2834640"/>
            <a:ext cx="2697480" cy="731520"/>
          </a:xfrm>
          <a:prstGeom prst="rect">
            <a:avLst/>
          </a:prstGeom>
          <a:noFill/>
          <a:ln/>
        </p:spPr>
        <p:txBody>
          <a:bodyPr wrap="square" lIns="0" tIns="0" rIns="0" bIns="0" rtlCol="0" anchor="t"/>
          <a:lstStyle/>
          <a:p>
            <a:pPr indent="0" marL="0">
              <a:buNone/>
            </a:pPr>
            <a:r>
              <a:rPr lang="en-US" sz="1500" b="1" dirty="0">
                <a:solidFill>
                  <a:schemeClr val="tx1"/>
                </a:solidFill>
              </a:rPr>
              <a:t>급한 지출 120만 원</a:t>
            </a:r>
            <a:endParaRPr lang="en-US" sz="1500" dirty="0"/>
          </a:p>
          <a:p>
            <a:pPr indent="0" marL="0">
              <a:buNone/>
            </a:pPr>
            <a:r>
              <a:rPr lang="en-US" sz="1300" dirty="0">
                <a:solidFill>
                  <a:srgbClr val="6B7785"/>
                </a:solidFill>
              </a:rPr>
              <a:t>실직은 없었어요</a:t>
            </a:r>
            <a:endParaRPr lang="en-US" sz="1500" dirty="0"/>
          </a:p>
        </p:txBody>
      </p:sp>
      <p:sp>
        <p:nvSpPr>
          <p:cNvPr id="11" name="tl-dot-2"/>
          <p:cNvSpPr/>
          <p:nvPr/>
        </p:nvSpPr>
        <p:spPr>
          <a:xfrm>
            <a:off x="6336792" y="2359152"/>
            <a:ext cx="310896" cy="310896"/>
          </a:xfrm>
          <a:prstGeom prst="ellipse">
            <a:avLst/>
          </a:prstGeom>
          <a:solidFill>
            <a:schemeClr val="accent2"/>
          </a:solidFill>
          <a:ln w="25400">
            <a:solidFill>
              <a:srgbClr val="FFFFFF"/>
            </a:solidFill>
            <a:prstDash val="solid"/>
          </a:ln>
        </p:spPr>
      </p:sp>
      <p:sp>
        <p:nvSpPr>
          <p:cNvPr id="12" name="Text 10"/>
          <p:cNvSpPr txBox="1"/>
          <p:nvPr/>
        </p:nvSpPr>
        <p:spPr>
          <a:xfrm>
            <a:off x="6336792" y="1874520"/>
            <a:ext cx="2926080" cy="365760"/>
          </a:xfrm>
          <a:prstGeom prst="rect">
            <a:avLst/>
          </a:prstGeom>
          <a:noFill/>
          <a:ln/>
        </p:spPr>
        <p:txBody>
          <a:bodyPr wrap="square" lIns="0" tIns="0" rIns="0" bIns="0" rtlCol="0" anchor="ctr"/>
          <a:lstStyle/>
          <a:p>
            <a:pPr indent="0" marL="0">
              <a:buNone/>
            </a:pPr>
            <a:r>
              <a:rPr lang="en-US" sz="1400" b="1" dirty="0">
                <a:solidFill>
                  <a:schemeClr val="accent2"/>
                </a:solidFill>
              </a:rPr>
              <a:t>같은 달</a:t>
            </a:r>
            <a:endParaRPr lang="en-US" sz="1400" dirty="0"/>
          </a:p>
        </p:txBody>
      </p:sp>
      <p:sp>
        <p:nvSpPr>
          <p:cNvPr id="13" name="Text 11"/>
          <p:cNvSpPr txBox="1"/>
          <p:nvPr/>
        </p:nvSpPr>
        <p:spPr>
          <a:xfrm>
            <a:off x="6336792" y="2834640"/>
            <a:ext cx="2697480" cy="731520"/>
          </a:xfrm>
          <a:prstGeom prst="rect">
            <a:avLst/>
          </a:prstGeom>
          <a:noFill/>
          <a:ln/>
        </p:spPr>
        <p:txBody>
          <a:bodyPr wrap="square" lIns="0" tIns="0" rIns="0" bIns="0" rtlCol="0" anchor="t"/>
          <a:lstStyle/>
          <a:p>
            <a:pPr indent="0" marL="0">
              <a:buNone/>
            </a:pPr>
            <a:r>
              <a:rPr lang="en-US" sz="1500" b="1" dirty="0">
                <a:solidFill>
                  <a:schemeClr val="tx1"/>
                </a:solidFill>
              </a:rPr>
              <a:t>마이너스 50만 원 초과</a:t>
            </a:r>
            <a:endParaRPr lang="en-US" sz="1500" dirty="0"/>
          </a:p>
          <a:p>
            <a:pPr indent="0" marL="0">
              <a:buNone/>
            </a:pPr>
            <a:r>
              <a:rPr lang="en-US" sz="1300" dirty="0">
                <a:solidFill>
                  <a:srgbClr val="6B7785"/>
                </a:solidFill>
              </a:rPr>
              <a:t>버틸 수 있는 금액을 넘음</a:t>
            </a:r>
            <a:endParaRPr lang="en-US" sz="1500" dirty="0"/>
          </a:p>
        </p:txBody>
      </p:sp>
      <p:sp>
        <p:nvSpPr>
          <p:cNvPr id="14" name="tl-dot-3"/>
          <p:cNvSpPr/>
          <p:nvPr/>
        </p:nvSpPr>
        <p:spPr>
          <a:xfrm>
            <a:off x="9171432" y="2359152"/>
            <a:ext cx="310896" cy="310896"/>
          </a:xfrm>
          <a:prstGeom prst="ellipse">
            <a:avLst/>
          </a:prstGeom>
          <a:solidFill>
            <a:schemeClr val="accent2"/>
          </a:solidFill>
          <a:ln w="25400">
            <a:solidFill>
              <a:srgbClr val="FFFFFF"/>
            </a:solidFill>
            <a:prstDash val="solid"/>
          </a:ln>
        </p:spPr>
      </p:sp>
      <p:sp>
        <p:nvSpPr>
          <p:cNvPr id="15" name="Text 13"/>
          <p:cNvSpPr txBox="1"/>
          <p:nvPr/>
        </p:nvSpPr>
        <p:spPr>
          <a:xfrm>
            <a:off x="9171432" y="1874520"/>
            <a:ext cx="2926080" cy="365760"/>
          </a:xfrm>
          <a:prstGeom prst="rect">
            <a:avLst/>
          </a:prstGeom>
          <a:noFill/>
          <a:ln/>
        </p:spPr>
        <p:txBody>
          <a:bodyPr wrap="square" lIns="0" tIns="0" rIns="0" bIns="0" rtlCol="0" anchor="ctr"/>
          <a:lstStyle/>
          <a:p>
            <a:pPr indent="0" marL="0">
              <a:buNone/>
            </a:pPr>
            <a:r>
              <a:rPr lang="en-US" sz="1400" b="1" dirty="0">
                <a:solidFill>
                  <a:schemeClr val="accent2"/>
                </a:solidFill>
              </a:rPr>
              <a:t>그 결과</a:t>
            </a:r>
            <a:endParaRPr lang="en-US" sz="1400" dirty="0"/>
          </a:p>
        </p:txBody>
      </p:sp>
      <p:sp>
        <p:nvSpPr>
          <p:cNvPr id="16" name="Text 14"/>
          <p:cNvSpPr txBox="1"/>
          <p:nvPr/>
        </p:nvSpPr>
        <p:spPr>
          <a:xfrm>
            <a:off x="9171432" y="2834640"/>
            <a:ext cx="2697480" cy="731520"/>
          </a:xfrm>
          <a:prstGeom prst="rect">
            <a:avLst/>
          </a:prstGeom>
          <a:noFill/>
          <a:ln/>
        </p:spPr>
        <p:txBody>
          <a:bodyPr wrap="square" lIns="0" tIns="0" rIns="0" bIns="0" rtlCol="0" anchor="t"/>
          <a:lstStyle/>
          <a:p>
            <a:pPr indent="0" marL="0">
              <a:buNone/>
            </a:pPr>
            <a:r>
              <a:rPr lang="en-US" sz="1500" b="1" dirty="0">
                <a:solidFill>
                  <a:schemeClr val="tx1"/>
                </a:solidFill>
              </a:rPr>
              <a:t>청년미래적금 일반해지</a:t>
            </a:r>
            <a:endParaRPr lang="en-US" sz="1500" dirty="0"/>
          </a:p>
          <a:p>
            <a:pPr indent="0" marL="0">
              <a:buNone/>
            </a:pPr>
            <a:r>
              <a:rPr lang="en-US" sz="1300" dirty="0">
                <a:solidFill>
                  <a:srgbClr val="6B7785"/>
                </a:solidFill>
              </a:rPr>
              <a:t>정부 지원금이 사라져요</a:t>
            </a:r>
            <a:endParaRPr lang="en-US" sz="1500" dirty="0"/>
          </a:p>
        </p:txBody>
      </p:sp>
      <p:sp>
        <p:nvSpPr>
          <p:cNvPr id="17" name="Text 15"/>
          <p:cNvSpPr txBox="1"/>
          <p:nvPr/>
        </p:nvSpPr>
        <p:spPr>
          <a:xfrm>
            <a:off x="548640" y="3703320"/>
            <a:ext cx="11064240" cy="640080"/>
          </a:xfrm>
          <a:prstGeom prst="rect">
            <a:avLst/>
          </a:prstGeom>
          <a:noFill/>
          <a:ln/>
        </p:spPr>
        <p:txBody>
          <a:bodyPr wrap="square" lIns="0" tIns="0" rIns="0" bIns="0" rtlCol="0" anchor="ctr"/>
          <a:lstStyle/>
          <a:p>
            <a:pPr indent="0" marL="0">
              <a:buNone/>
            </a:pPr>
            <a:r>
              <a:rPr lang="en-US" sz="1400" dirty="0">
                <a:solidFill>
                  <a:srgbClr val="6B7785"/>
                </a:solidFill>
              </a:rPr>
              <a:t>같은 급한 지출도 ‘언제’ 오느냐에 따라 결과가 갈려요. 퇴직 후 6개월 안에 깨면 지원금이 남고, 실업급여는 일한 기간에 따라 받을지가 갈려요.</a:t>
            </a:r>
            <a:endParaRPr lang="en-US" sz="1400" dirty="0"/>
          </a:p>
        </p:txBody>
      </p:sp>
      <p:sp>
        <p:nvSpPr>
          <p:cNvPr id="18" name="flip-card"/>
          <p:cNvSpPr/>
          <p:nvPr/>
        </p:nvSpPr>
        <p:spPr>
          <a:xfrm>
            <a:off x="548640" y="4480560"/>
            <a:ext cx="11064240" cy="1417320"/>
          </a:xfrm>
          <a:prstGeom prst="roundRect">
            <a:avLst>
              <a:gd name="adj" fmla="val 7742"/>
            </a:avLst>
          </a:prstGeom>
          <a:solidFill>
            <a:srgbClr val="F2F5F9"/>
          </a:solidFill>
          <a:ln w="12700">
            <a:solidFill>
              <a:srgbClr val="F2F5F9"/>
            </a:solidFill>
            <a:prstDash val="solid"/>
          </a:ln>
        </p:spPr>
      </p:sp>
      <p:sp>
        <p:nvSpPr>
          <p:cNvPr id="19" name="flip-dot"/>
          <p:cNvSpPr/>
          <p:nvPr/>
        </p:nvSpPr>
        <p:spPr>
          <a:xfrm>
            <a:off x="822960" y="4818888"/>
            <a:ext cx="731520" cy="731520"/>
          </a:xfrm>
          <a:prstGeom prst="ellipse">
            <a:avLst/>
          </a:prstGeom>
          <a:solidFill>
            <a:srgbClr val="FBE6D6"/>
          </a:solidFill>
          <a:ln w="12700">
            <a:solidFill>
              <a:srgbClr val="FBE6D6"/>
            </a:solidFill>
            <a:prstDash val="solid"/>
          </a:ln>
        </p:spPr>
      </p:sp>
      <p:pic>
        <p:nvPicPr>
          <p:cNvPr id="20" name="flip-icon" descr="flip">    </p:cNvPr>
          <p:cNvPicPr>
            <a:picLocks noChangeAspect="1"/>
          </p:cNvPicPr>
          <p:nvPr/>
        </p:nvPicPr>
        <p:blipFill>
          <a:blip r:embed="rId1"/>
          <a:stretch>
            <a:fillRect/>
          </a:stretch>
        </p:blipFill>
        <p:spPr>
          <a:xfrm>
            <a:off x="1005840" y="5001768"/>
            <a:ext cx="365760" cy="365760"/>
          </a:xfrm>
          <a:prstGeom prst="rect">
            <a:avLst/>
          </a:prstGeom>
        </p:spPr>
      </p:pic>
      <p:sp>
        <p:nvSpPr>
          <p:cNvPr id="21" name="Text 18"/>
          <p:cNvSpPr txBox="1"/>
          <p:nvPr/>
        </p:nvSpPr>
        <p:spPr>
          <a:xfrm>
            <a:off x="1783080" y="4572000"/>
            <a:ext cx="9646920" cy="1234440"/>
          </a:xfrm>
          <a:prstGeom prst="rect">
            <a:avLst/>
          </a:prstGeom>
          <a:noFill/>
          <a:ln/>
        </p:spPr>
        <p:txBody>
          <a:bodyPr wrap="square" lIns="0" tIns="0" rIns="0" bIns="0" rtlCol="0" anchor="ctr"/>
          <a:lstStyle/>
          <a:p>
            <a:pPr indent="0" marL="0">
              <a:buNone/>
            </a:pPr>
            <a:r>
              <a:rPr lang="en-US" sz="1700" b="1" dirty="0">
                <a:solidFill>
                  <a:schemeClr val="tx1"/>
                </a:solidFill>
              </a:rPr>
              <a:t>월 50만 원이 30만 원보다 나을까요?</a:t>
            </a:r>
            <a:endParaRPr lang="en-US" sz="1700" dirty="0"/>
          </a:p>
          <a:p>
            <a:pPr indent="0" marL="0">
              <a:buNone/>
            </a:pPr>
            <a:r>
              <a:rPr lang="en-US" sz="1400" dirty="0">
                <a:solidFill>
                  <a:schemeClr val="tx1"/>
                </a:solidFill>
              </a:rPr>
              <a:t>계산기: 50만 원이 더 많이 모여요  →  시뮬레이터: 50만 원이면 적금이 깨질 위험이 19.1%p 더 커요 (가정을 60번 바꿔도 모두 같은 결론)</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감으로 하던 결정을 숫자로 비교해요</a:t>
            </a:r>
            <a:endParaRPr lang="en-US" sz="3000" dirty="0"/>
          </a:p>
        </p:txBody>
      </p:sp>
      <p:graphicFrame>
        <p:nvGraphicFramePr>
          <p:cNvPr id="7" name="before-after"/>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566160"/>
                <a:gridCol w="2834640"/>
                <a:gridCol w="4663440"/>
              </a:tblGrid>
              <a:tr h="457200">
                <a:tc>
                  <a:txBody>
                    <a:bodyPr/>
                    <a:lstStyle/>
                    <a:p>
                      <a:pPr indent="0" marL="0">
                        <a:buNone/>
                      </a:pPr>
                      <a:r>
                        <a:rPr lang="en-US" sz="1400" b="1" dirty="0">
                          <a:solidFill>
                            <a:srgbClr val="FFFFFF"/>
                          </a:solidFill>
                        </a:rPr>
                        <a:t>고민</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F2A47"/>
                    </a:solidFill>
                  </a:tcPr>
                </a:tc>
                <a:tc>
                  <a:txBody>
                    <a:bodyPr/>
                    <a:lstStyle/>
                    <a:p>
                      <a:pPr indent="0" marL="0">
                        <a:buNone/>
                      </a:pPr>
                      <a:r>
                        <a:rPr lang="en-US" sz="1400" b="1" dirty="0">
                          <a:solidFill>
                            <a:srgbClr val="FFFFFF"/>
                          </a:solidFill>
                        </a:rPr>
                        <a:t>지금까지 (사용 전)</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F2A47"/>
                    </a:solidFill>
                  </a:tcPr>
                </a:tc>
                <a:tc>
                  <a:txBody>
                    <a:bodyPr/>
                    <a:lstStyle/>
                    <a:p>
                      <a:pPr indent="0" marL="0">
                        <a:buNone/>
                      </a:pPr>
                      <a:r>
                        <a:rPr lang="en-US" sz="1400" b="1" dirty="0">
                          <a:solidFill>
                            <a:srgbClr val="FFFFFF"/>
                          </a:solidFill>
                        </a:rPr>
                        <a:t>우리 서비스 (사용 후)</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F2A47"/>
                    </a:solidFill>
                  </a:tcPr>
                </a:tc>
              </a:tr>
              <a:tr h="868680">
                <a:tc>
                  <a:txBody>
                    <a:bodyPr/>
                    <a:lstStyle/>
                    <a:p>
                      <a:pPr indent="0" marL="0">
                        <a:buNone/>
                      </a:pPr>
                      <a:r>
                        <a:rPr lang="en-US" sz="1400" b="1" dirty="0">
                          <a:solidFill>
                            <a:srgbClr val="1F2933"/>
                          </a:solidFill>
                        </a:rPr>
                        <a:t>생활비를 얼마나 줄여야 할까?</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6B7785"/>
                          </a:solidFill>
                        </a:rPr>
                        <a:t>“좀 아껴야지”</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변동지출 월 10만 원 줄이면 58% → 70%, 목표에 13개월 빨리</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F2933"/>
                          </a:solidFill>
                        </a:rPr>
                        <a:t>5년 뒤 3,000만 원, 가능할까?</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6B7785"/>
                          </a:solidFill>
                        </a:rPr>
                        <a:t>계산기 “4,440만 원, 충분해요”</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가능성 약 58%. 70%로 닿으려면 73개월</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F2933"/>
                          </a:solidFill>
                        </a:rPr>
                        <a:t>적금부터? 비상금부터? (24세 첫 직장)</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6B7785"/>
                          </a:solidFill>
                        </a:rPr>
                        <a:t>정보 없음</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비상금 200만 원 먼저: 깨질 위험 40% → 27%, 지원금 차이는 평균 7만 원</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F2933"/>
                          </a:solidFill>
                        </a:rPr>
                        <a:t>1년 뒤 전세로 옮겨도 될까? (36세 계약직)</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6B7785"/>
                          </a:solidFill>
                        </a:rPr>
                        <a:t>막연한 불안</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5년 목표 가능성 93% → 96%, 옮겨도 괜찮아요</a:t>
                      </a:r>
                      <a:endParaRPr lang="en-US" sz="1400" dirty="0"/>
                    </a:p>
                  </a:txBody>
                  <a:tcPr marL="137160" marR="137160"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532120"/>
            <a:ext cx="11064240" cy="457200"/>
          </a:xfrm>
          <a:prstGeom prst="rect">
            <a:avLst/>
          </a:prstGeom>
          <a:noFill/>
          <a:ln/>
        </p:spPr>
        <p:txBody>
          <a:bodyPr wrap="square" lIns="0" tIns="0" rIns="0" bIns="0" rtlCol="0" anchor="ctr"/>
          <a:lstStyle/>
          <a:p>
            <a:pPr indent="0" marL="0">
              <a:buNone/>
            </a:pPr>
            <a:r>
              <a:rPr lang="en-US" sz="1400" i="1" dirty="0">
                <a:solidFill>
                  <a:schemeClr val="accent2"/>
                </a:solidFill>
              </a:rPr>
              <a:t>작은 선택(적금 순서)은 차이가 수만 원이라는 것도 그대로 보여 줘서, 결과를 크게 바꾸는 행동(지출·목표 시점)에 집중하게 해요</a:t>
            </a:r>
            <a:endParaRPr lang="en-US" sz="1400" dirty="0"/>
          </a:p>
        </p:txBody>
      </p:sp>
      <p:sp>
        <p:nvSpPr>
          <p:cNvPr id="5" name="Text 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dirty="0">
                <a:solidFill>
                  <a:srgbClr val="6B7785"/>
                </a:solidFill>
              </a:rPr>
              <a:t>파이썬 기준 구현 결과 (설계 보고서 1.3)</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아직 일어나지 않은 일은 계좌 내역에 없어요</a:t>
            </a:r>
            <a:endParaRPr lang="en-US" sz="3000" dirty="0"/>
          </a:p>
        </p:txBody>
      </p:sp>
      <p:graphicFrame>
        <p:nvGraphicFramePr>
          <p:cNvPr id="8" name="compar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828800"/>
                <a:gridCol w="2240280"/>
                <a:gridCol w="2057400"/>
                <a:gridCol w="2331720"/>
                <a:gridCol w="2606040"/>
              </a:tblGrid>
              <a:tr h="457200">
                <a:tc>
                  <a:txBody>
                    <a:bodyPr/>
                    <a:lstStyle/>
                    <a:p>
                      <a:pPr indent="0" marL="0">
                        <a:buNone/>
                      </a:pP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F2A47"/>
                    </a:solidFill>
                  </a:tcPr>
                </a:tc>
                <a:tc>
                  <a:txBody>
                    <a:bodyPr/>
                    <a:lstStyle/>
                    <a:p>
                      <a:pPr indent="0" marL="0">
                        <a:buNone/>
                      </a:pPr>
                      <a:r>
                        <a:rPr lang="en-US" sz="1400" b="1" dirty="0">
                          <a:solidFill>
                            <a:srgbClr val="FFFFFF"/>
                          </a:solidFill>
                        </a:rPr>
                        <a:t>계좌 연동 (토스 등)</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F2A47"/>
                    </a:solidFill>
                  </a:tcPr>
                </a:tc>
                <a:tc>
                  <a:txBody>
                    <a:bodyPr/>
                    <a:lstStyle/>
                    <a:p>
                      <a:pPr indent="0" marL="0">
                        <a:buNone/>
                      </a:pPr>
                      <a:r>
                        <a:rPr lang="en-US" sz="1400" b="1" dirty="0">
                          <a:solidFill>
                            <a:srgbClr val="FFFFFF"/>
                          </a:solidFill>
                        </a:rPr>
                        <a:t>금융 계산기</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F2A47"/>
                    </a:solidFill>
                  </a:tcPr>
                </a:tc>
                <a:tc>
                  <a:txBody>
                    <a:bodyPr/>
                    <a:lstStyle/>
                    <a:p>
                      <a:pPr indent="0" marL="0">
                        <a:buNone/>
                      </a:pPr>
                      <a:r>
                        <a:rPr lang="en-US" sz="1400" b="1" dirty="0">
                          <a:solidFill>
                            <a:srgbClr val="FFFFFF"/>
                          </a:solidFill>
                        </a:rPr>
                        <a:t>서울 ‘5년 후 내 자산’</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F2A47"/>
                    </a:solidFill>
                  </a:tcPr>
                </a:tc>
                <a:tc>
                  <a:txBody>
                    <a:bodyPr/>
                    <a:lstStyle/>
                    <a:p>
                      <a:pPr indent="0" marL="0">
                        <a:buNone/>
                      </a:pPr>
                      <a:r>
                        <a:rPr lang="en-US" sz="1400" b="1" dirty="0">
                          <a:solidFill>
                            <a:srgbClr val="FFFFFF"/>
                          </a:solidFill>
                        </a:rPr>
                        <a:t>우리 서비스</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0B5CAD"/>
                    </a:solidFill>
                  </a:tcPr>
                </a:tc>
              </a:tr>
              <a:tr h="566928">
                <a:tc>
                  <a:txBody>
                    <a:bodyPr/>
                    <a:lstStyle/>
                    <a:p>
                      <a:pPr indent="0" marL="0">
                        <a:buNone/>
                      </a:pPr>
                      <a:r>
                        <a:rPr lang="en-US" sz="1400" b="1" dirty="0">
                          <a:solidFill>
                            <a:srgbClr val="1F2933"/>
                          </a:solidFill>
                        </a:rPr>
                        <a:t>보는 시점</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현재와 과거</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상품 하나의 만기</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5년 뒤</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최대 10년, 매달</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2933"/>
                          </a:solidFill>
                        </a:rPr>
                        <a:t>결과</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자산 현황·소비 분석·추천</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확정 금액 하나</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같은 조건 청년 통계</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가능성·범위·위험과 원인</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2933"/>
                          </a:solidFill>
                        </a:rPr>
                        <a:t>실직·급전·물가</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없음</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반영 안 함</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공개 정보에서 확인 안 됨</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공공통계 기반 확률로 반영</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2933"/>
                          </a:solidFill>
                        </a:rPr>
                        <a:t>선택지 비교</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없음</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한 번에 하나</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이벤트 4종 선택</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b="1" dirty="0">
                          <a:solidFill>
                            <a:srgbClr val="0B5CAD"/>
                          </a:solidFill>
                        </a:rPr>
                        <a:t>같은 미래에서 바로 비교</a:t>
                      </a:r>
                      <a:endParaRPr lang="en-US" sz="1400" dirty="0"/>
                    </a:p>
                  </a:txBody>
                  <a:tcPr marL="109728" marR="109728" marT="54864" marB="54864"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bl>
          </a:graphicData>
        </a:graphic>
      </p:graphicFrame>
      <p:sp>
        <p:nvSpPr>
          <p:cNvPr id="4" name="why-0"/>
          <p:cNvSpPr/>
          <p:nvPr/>
        </p:nvSpPr>
        <p:spPr>
          <a:xfrm>
            <a:off x="548640" y="4343400"/>
            <a:ext cx="3566160" cy="1554480"/>
          </a:xfrm>
          <a:prstGeom prst="roundRect">
            <a:avLst>
              <a:gd name="adj" fmla="val 7059"/>
            </a:avLst>
          </a:prstGeom>
          <a:solidFill>
            <a:srgbClr val="F2F5F9"/>
          </a:solidFill>
          <a:ln w="12700">
            <a:solidFill>
              <a:srgbClr val="F2F5F9"/>
            </a:solidFill>
            <a:prstDash val="solid"/>
          </a:ln>
        </p:spPr>
      </p:sp>
      <p:sp>
        <p:nvSpPr>
          <p:cNvPr id="5" name="why-0-dot"/>
          <p:cNvSpPr/>
          <p:nvPr/>
        </p:nvSpPr>
        <p:spPr>
          <a:xfrm>
            <a:off x="777240" y="4526280"/>
            <a:ext cx="548640" cy="548640"/>
          </a:xfrm>
          <a:prstGeom prst="ellipse">
            <a:avLst/>
          </a:prstGeom>
          <a:solidFill>
            <a:srgbClr val="FFFFFF"/>
          </a:solidFill>
          <a:ln w="12700">
            <a:solidFill>
              <a:srgbClr val="FFFFFF"/>
            </a:solidFill>
            <a:prstDash val="solid"/>
          </a:ln>
        </p:spPr>
      </p:sp>
      <p:pic>
        <p:nvPicPr>
          <p:cNvPr id="6" name="why-0-icon" descr="why-0">    </p:cNvPr>
          <p:cNvPicPr>
            <a:picLocks noChangeAspect="1"/>
          </p:cNvPicPr>
          <p:nvPr/>
        </p:nvPicPr>
        <p:blipFill>
          <a:blip r:embed="rId1"/>
          <a:stretch>
            <a:fillRect/>
          </a:stretch>
        </p:blipFill>
        <p:spPr>
          <a:xfrm>
            <a:off x="914400" y="4663440"/>
            <a:ext cx="274320" cy="274320"/>
          </a:xfrm>
          <a:prstGeom prst="rect">
            <a:avLst/>
          </a:prstGeom>
        </p:spPr>
      </p:pic>
      <p:sp>
        <p:nvSpPr>
          <p:cNvPr id="7" name="Text 3"/>
          <p:cNvSpPr txBox="1"/>
          <p:nvPr/>
        </p:nvSpPr>
        <p:spPr>
          <a:xfrm>
            <a:off x="1463040" y="452628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연동해도 답이 없어요</a:t>
            </a:r>
            <a:endParaRPr lang="en-US" sz="1600" dirty="0"/>
          </a:p>
        </p:txBody>
      </p:sp>
      <p:sp>
        <p:nvSpPr>
          <p:cNvPr id="8" name="Text 4"/>
          <p:cNvSpPr txBox="1"/>
          <p:nvPr/>
        </p:nvSpPr>
        <p:spPr>
          <a:xfrm>
            <a:off x="777240" y="5166360"/>
            <a:ext cx="3200400" cy="685800"/>
          </a:xfrm>
          <a:prstGeom prst="rect">
            <a:avLst/>
          </a:prstGeom>
          <a:noFill/>
          <a:ln/>
        </p:spPr>
        <p:txBody>
          <a:bodyPr wrap="square" lIns="0" tIns="0" rIns="0" bIns="0" rtlCol="0" anchor="t"/>
          <a:lstStyle/>
          <a:p>
            <a:pPr indent="0" marL="0">
              <a:buNone/>
            </a:pPr>
            <a:r>
              <a:rPr lang="en-US" sz="1300" dirty="0">
                <a:solidFill>
                  <a:srgbClr val="6B7785"/>
                </a:solidFill>
              </a:rPr>
              <a:t>이직·이사·납입액처럼 아직 안 한 선택과 실직·급전은 거래 내역에 없어요</a:t>
            </a:r>
            <a:endParaRPr lang="en-US" sz="1300" dirty="0"/>
          </a:p>
        </p:txBody>
      </p:sp>
      <p:sp>
        <p:nvSpPr>
          <p:cNvPr id="9" name="why-1"/>
          <p:cNvSpPr/>
          <p:nvPr/>
        </p:nvSpPr>
        <p:spPr>
          <a:xfrm>
            <a:off x="4297680" y="4343400"/>
            <a:ext cx="3566160" cy="1554480"/>
          </a:xfrm>
          <a:prstGeom prst="roundRect">
            <a:avLst>
              <a:gd name="adj" fmla="val 7059"/>
            </a:avLst>
          </a:prstGeom>
          <a:solidFill>
            <a:srgbClr val="F2F5F9"/>
          </a:solidFill>
          <a:ln w="12700">
            <a:solidFill>
              <a:srgbClr val="F2F5F9"/>
            </a:solidFill>
            <a:prstDash val="solid"/>
          </a:ln>
        </p:spPr>
      </p:sp>
      <p:sp>
        <p:nvSpPr>
          <p:cNvPr id="10" name="why-1-dot"/>
          <p:cNvSpPr/>
          <p:nvPr/>
        </p:nvSpPr>
        <p:spPr>
          <a:xfrm>
            <a:off x="4526280" y="4526280"/>
            <a:ext cx="548640" cy="548640"/>
          </a:xfrm>
          <a:prstGeom prst="ellipse">
            <a:avLst/>
          </a:prstGeom>
          <a:solidFill>
            <a:srgbClr val="FFFFFF"/>
          </a:solidFill>
          <a:ln w="12700">
            <a:solidFill>
              <a:srgbClr val="FFFFFF"/>
            </a:solidFill>
            <a:prstDash val="solid"/>
          </a:ln>
        </p:spPr>
      </p:sp>
      <p:pic>
        <p:nvPicPr>
          <p:cNvPr id="11" name="why-1-icon" descr="why-1">    </p:cNvPr>
          <p:cNvPicPr>
            <a:picLocks noChangeAspect="1"/>
          </p:cNvPicPr>
          <p:nvPr/>
        </p:nvPicPr>
        <p:blipFill>
          <a:blip r:embed="rId2"/>
          <a:stretch>
            <a:fillRect/>
          </a:stretch>
        </p:blipFill>
        <p:spPr>
          <a:xfrm>
            <a:off x="4663440" y="4663440"/>
            <a:ext cx="274320" cy="274320"/>
          </a:xfrm>
          <a:prstGeom prst="rect">
            <a:avLst/>
          </a:prstGeom>
        </p:spPr>
      </p:pic>
      <p:sp>
        <p:nvSpPr>
          <p:cNvPr id="12" name="Text 7"/>
          <p:cNvSpPr txBox="1"/>
          <p:nvPr/>
        </p:nvSpPr>
        <p:spPr>
          <a:xfrm>
            <a:off x="5212080" y="452628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입력은 짧아요</a:t>
            </a:r>
            <a:endParaRPr lang="en-US" sz="1600" dirty="0"/>
          </a:p>
        </p:txBody>
      </p:sp>
      <p:sp>
        <p:nvSpPr>
          <p:cNvPr id="13" name="Text 8"/>
          <p:cNvSpPr txBox="1"/>
          <p:nvPr/>
        </p:nvSpPr>
        <p:spPr>
          <a:xfrm>
            <a:off x="4526280" y="5166360"/>
            <a:ext cx="3200400" cy="685800"/>
          </a:xfrm>
          <a:prstGeom prst="rect">
            <a:avLst/>
          </a:prstGeom>
          <a:noFill/>
          <a:ln/>
        </p:spPr>
        <p:txBody>
          <a:bodyPr wrap="square" lIns="0" tIns="0" rIns="0" bIns="0" rtlCol="0" anchor="t"/>
          <a:lstStyle/>
          <a:p>
            <a:pPr indent="0" marL="0">
              <a:buNone/>
            </a:pPr>
            <a:r>
              <a:rPr lang="en-US" sz="1300" dirty="0">
                <a:solidFill>
                  <a:srgbClr val="6B7785"/>
                </a:solidFill>
              </a:rPr>
              <a:t>필수 8칸, 나머지는 기본값. 목표 3분</a:t>
            </a:r>
            <a:endParaRPr lang="en-US" sz="1300" dirty="0"/>
          </a:p>
        </p:txBody>
      </p:sp>
      <p:sp>
        <p:nvSpPr>
          <p:cNvPr id="14" name="why-2"/>
          <p:cNvSpPr/>
          <p:nvPr/>
        </p:nvSpPr>
        <p:spPr>
          <a:xfrm>
            <a:off x="8046720" y="4343400"/>
            <a:ext cx="3566160" cy="1554480"/>
          </a:xfrm>
          <a:prstGeom prst="roundRect">
            <a:avLst>
              <a:gd name="adj" fmla="val 7059"/>
            </a:avLst>
          </a:prstGeom>
          <a:solidFill>
            <a:srgbClr val="F2F5F9"/>
          </a:solidFill>
          <a:ln w="12700">
            <a:solidFill>
              <a:srgbClr val="F2F5F9"/>
            </a:solidFill>
            <a:prstDash val="solid"/>
          </a:ln>
        </p:spPr>
      </p:sp>
      <p:sp>
        <p:nvSpPr>
          <p:cNvPr id="15" name="why-2-dot"/>
          <p:cNvSpPr/>
          <p:nvPr/>
        </p:nvSpPr>
        <p:spPr>
          <a:xfrm>
            <a:off x="8275320" y="4526280"/>
            <a:ext cx="548640" cy="548640"/>
          </a:xfrm>
          <a:prstGeom prst="ellipse">
            <a:avLst/>
          </a:prstGeom>
          <a:solidFill>
            <a:srgbClr val="FFFFFF"/>
          </a:solidFill>
          <a:ln w="12700">
            <a:solidFill>
              <a:srgbClr val="FFFFFF"/>
            </a:solidFill>
            <a:prstDash val="solid"/>
          </a:ln>
        </p:spPr>
      </p:sp>
      <p:pic>
        <p:nvPicPr>
          <p:cNvPr id="16" name="why-2-icon" descr="why-2">    </p:cNvPr>
          <p:cNvPicPr>
            <a:picLocks noChangeAspect="1"/>
          </p:cNvPicPr>
          <p:nvPr/>
        </p:nvPicPr>
        <p:blipFill>
          <a:blip r:embed="rId3"/>
          <a:stretch>
            <a:fillRect/>
          </a:stretch>
        </p:blipFill>
        <p:spPr>
          <a:xfrm>
            <a:off x="8412480" y="4663440"/>
            <a:ext cx="274320" cy="274320"/>
          </a:xfrm>
          <a:prstGeom prst="rect">
            <a:avLst/>
          </a:prstGeom>
        </p:spPr>
      </p:pic>
      <p:sp>
        <p:nvSpPr>
          <p:cNvPr id="17" name="Text 11"/>
          <p:cNvSpPr txBox="1"/>
          <p:nvPr/>
        </p:nvSpPr>
        <p:spPr>
          <a:xfrm>
            <a:off x="8961120" y="452628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저장하지 않아요</a:t>
            </a:r>
            <a:endParaRPr lang="en-US" sz="1600" dirty="0"/>
          </a:p>
        </p:txBody>
      </p:sp>
      <p:sp>
        <p:nvSpPr>
          <p:cNvPr id="18" name="Text 12"/>
          <p:cNvSpPr txBox="1"/>
          <p:nvPr/>
        </p:nvSpPr>
        <p:spPr>
          <a:xfrm>
            <a:off x="8275320" y="5166360"/>
            <a:ext cx="3200400" cy="685800"/>
          </a:xfrm>
          <a:prstGeom prst="rect">
            <a:avLst/>
          </a:prstGeom>
          <a:noFill/>
          <a:ln/>
        </p:spPr>
        <p:txBody>
          <a:bodyPr wrap="square" lIns="0" tIns="0" rIns="0" bIns="0" rtlCol="0" anchor="t"/>
          <a:lstStyle/>
          <a:p>
            <a:pPr indent="0" marL="0">
              <a:buNone/>
            </a:pPr>
            <a:r>
              <a:rPr lang="en-US" sz="1300" dirty="0">
                <a:solidFill>
                  <a:srgbClr val="6B7785"/>
                </a:solidFill>
              </a:rPr>
              <a:t>계좌 인증·개인정보 저장이 없어 노출 위험이 없어요</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입력부터 결과까지, 한 사람으로 따라가 볼게요</a:t>
            </a:r>
            <a:endParaRPr lang="en-US" sz="3000" dirty="0"/>
          </a:p>
        </p:txBody>
      </p:sp>
      <p:sp>
        <p:nvSpPr>
          <p:cNvPr id="3" name="flow-0"/>
          <p:cNvSpPr/>
          <p:nvPr/>
        </p:nvSpPr>
        <p:spPr>
          <a:xfrm>
            <a:off x="548640" y="1463040"/>
            <a:ext cx="2011680" cy="329184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4" name="num-1-0.85"/>
          <p:cNvSpPr/>
          <p:nvPr/>
        </p:nvSpPr>
        <p:spPr>
          <a:xfrm>
            <a:off x="777240" y="1691640"/>
            <a:ext cx="512064" cy="512064"/>
          </a:xfrm>
          <a:prstGeom prst="ellipse">
            <a:avLst/>
          </a:prstGeom>
          <a:solidFill>
            <a:schemeClr val="accent1"/>
          </a:solidFill>
          <a:ln w="12700">
            <a:solidFill>
              <a:schemeClr val="accent1"/>
            </a:solidFill>
            <a:prstDash val="solid"/>
          </a:ln>
        </p:spPr>
      </p:sp>
      <p:sp>
        <p:nvSpPr>
          <p:cNvPr id="5" name="Text 3"/>
          <p:cNvSpPr txBox="1"/>
          <p:nvPr/>
        </p:nvSpPr>
        <p:spPr>
          <a:xfrm>
            <a:off x="777240" y="169164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77240" y="2377440"/>
            <a:ext cx="1645920" cy="411480"/>
          </a:xfrm>
          <a:prstGeom prst="rect">
            <a:avLst/>
          </a:prstGeom>
          <a:noFill/>
          <a:ln/>
        </p:spPr>
        <p:txBody>
          <a:bodyPr wrap="square" lIns="0" tIns="0" rIns="0" bIns="0" rtlCol="0" anchor="ctr"/>
          <a:lstStyle/>
          <a:p>
            <a:pPr indent="0" marL="0">
              <a:buNone/>
            </a:pPr>
            <a:r>
              <a:rPr lang="en-US" sz="1800" b="1" dirty="0">
                <a:solidFill>
                  <a:schemeClr val="tx1"/>
                </a:solidFill>
              </a:rPr>
              <a:t>입력</a:t>
            </a:r>
            <a:endParaRPr lang="en-US" sz="1800" dirty="0"/>
          </a:p>
        </p:txBody>
      </p:sp>
      <p:sp>
        <p:nvSpPr>
          <p:cNvPr id="7" name="Text 5"/>
          <p:cNvSpPr txBox="1"/>
          <p:nvPr/>
        </p:nvSpPr>
        <p:spPr>
          <a:xfrm>
            <a:off x="777240" y="2880360"/>
            <a:ext cx="1645920" cy="1097280"/>
          </a:xfrm>
          <a:prstGeom prst="rect">
            <a:avLst/>
          </a:prstGeom>
          <a:noFill/>
          <a:ln/>
        </p:spPr>
        <p:txBody>
          <a:bodyPr wrap="square" lIns="0" tIns="0" rIns="0" bIns="0" rtlCol="0" anchor="t"/>
          <a:lstStyle/>
          <a:p>
            <a:pPr indent="0" marL="0">
              <a:buNone/>
            </a:pPr>
            <a:r>
              <a:rPr lang="en-US" sz="1400" dirty="0">
                <a:solidFill>
                  <a:schemeClr val="tx1"/>
                </a:solidFill>
              </a:rPr>
              <a:t>27세 · 250만 원</a:t>
            </a:r>
            <a:endParaRPr lang="en-US" sz="1400" dirty="0"/>
          </a:p>
          <a:p>
            <a:pPr indent="0" marL="0">
              <a:buNone/>
            </a:pPr>
            <a:r>
              <a:rPr lang="en-US" sz="1400" dirty="0">
                <a:solidFill>
                  <a:schemeClr val="tx1"/>
                </a:solidFill>
              </a:rPr>
              <a:t>월 저축 50만</a:t>
            </a:r>
            <a:endParaRPr lang="en-US" sz="1400" dirty="0"/>
          </a:p>
          <a:p>
            <a:pPr indent="0" marL="0">
              <a:buNone/>
            </a:pPr>
            <a:r>
              <a:rPr lang="en-US" sz="1400" dirty="0">
                <a:solidFill>
                  <a:schemeClr val="tx1"/>
                </a:solidFill>
              </a:rPr>
              <a:t>5년 뒤 3,000만</a:t>
            </a:r>
            <a:endParaRPr lang="en-US" sz="1400" dirty="0"/>
          </a:p>
        </p:txBody>
      </p:sp>
      <p:sp>
        <p:nvSpPr>
          <p:cNvPr id="8" name="Text 6"/>
          <p:cNvSpPr txBox="1"/>
          <p:nvPr/>
        </p:nvSpPr>
        <p:spPr>
          <a:xfrm>
            <a:off x="777240" y="4114800"/>
            <a:ext cx="1645920" cy="502920"/>
          </a:xfrm>
          <a:prstGeom prst="rect">
            <a:avLst/>
          </a:prstGeom>
          <a:noFill/>
          <a:ln/>
        </p:spPr>
        <p:txBody>
          <a:bodyPr wrap="square" lIns="0" tIns="0" rIns="0" bIns="0" rtlCol="0" anchor="t"/>
          <a:lstStyle/>
          <a:p>
            <a:pPr indent="0" marL="0">
              <a:buNone/>
            </a:pPr>
            <a:r>
              <a:rPr lang="en-US" sz="1200" b="1" dirty="0">
                <a:solidFill>
                  <a:schemeClr val="accent1"/>
                </a:solidFill>
              </a:rPr>
              <a:t>필수 8칸</a:t>
            </a:r>
            <a:endParaRPr lang="en-US" sz="1200" dirty="0"/>
          </a:p>
        </p:txBody>
      </p:sp>
      <p:sp>
        <p:nvSpPr>
          <p:cNvPr id="9" name="flow-arrow-0"/>
          <p:cNvSpPr/>
          <p:nvPr/>
        </p:nvSpPr>
        <p:spPr>
          <a:xfrm>
            <a:off x="2587752" y="2971800"/>
            <a:ext cx="201168" cy="274320"/>
          </a:xfrm>
          <a:prstGeom prst="rightArrow">
            <a:avLst/>
          </a:prstGeom>
          <a:solidFill>
            <a:schemeClr val="accent3"/>
          </a:solidFill>
          <a:ln w="12700">
            <a:solidFill>
              <a:schemeClr val="accent3"/>
            </a:solidFill>
            <a:prstDash val="solid"/>
          </a:ln>
        </p:spPr>
      </p:sp>
      <p:sp>
        <p:nvSpPr>
          <p:cNvPr id="10" name="flow-1"/>
          <p:cNvSpPr/>
          <p:nvPr/>
        </p:nvSpPr>
        <p:spPr>
          <a:xfrm>
            <a:off x="2811780" y="1463040"/>
            <a:ext cx="2011680" cy="329184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11" name="num-2-3.325"/>
          <p:cNvSpPr/>
          <p:nvPr/>
        </p:nvSpPr>
        <p:spPr>
          <a:xfrm>
            <a:off x="3040380" y="1691640"/>
            <a:ext cx="512064" cy="512064"/>
          </a:xfrm>
          <a:prstGeom prst="ellipse">
            <a:avLst/>
          </a:prstGeom>
          <a:solidFill>
            <a:schemeClr val="accent1"/>
          </a:solidFill>
          <a:ln w="12700">
            <a:solidFill>
              <a:schemeClr val="accent1"/>
            </a:solidFill>
            <a:prstDash val="solid"/>
          </a:ln>
        </p:spPr>
      </p:sp>
      <p:sp>
        <p:nvSpPr>
          <p:cNvPr id="12" name="Text 10"/>
          <p:cNvSpPr txBox="1"/>
          <p:nvPr/>
        </p:nvSpPr>
        <p:spPr>
          <a:xfrm>
            <a:off x="3040380" y="169164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3040380" y="2377440"/>
            <a:ext cx="1645920" cy="411480"/>
          </a:xfrm>
          <a:prstGeom prst="rect">
            <a:avLst/>
          </a:prstGeom>
          <a:noFill/>
          <a:ln/>
        </p:spPr>
        <p:txBody>
          <a:bodyPr wrap="square" lIns="0" tIns="0" rIns="0" bIns="0" rtlCol="0" anchor="ctr"/>
          <a:lstStyle/>
          <a:p>
            <a:pPr indent="0" marL="0">
              <a:buNone/>
            </a:pPr>
            <a:r>
              <a:rPr lang="en-US" sz="1800" b="1" dirty="0">
                <a:solidFill>
                  <a:schemeClr val="tx1"/>
                </a:solidFill>
              </a:rPr>
              <a:t>변수 설정</a:t>
            </a:r>
            <a:endParaRPr lang="en-US" sz="1800" dirty="0"/>
          </a:p>
        </p:txBody>
      </p:sp>
      <p:sp>
        <p:nvSpPr>
          <p:cNvPr id="14" name="Text 12"/>
          <p:cNvSpPr txBox="1"/>
          <p:nvPr/>
        </p:nvSpPr>
        <p:spPr>
          <a:xfrm>
            <a:off x="3040380" y="2880360"/>
            <a:ext cx="1645920" cy="1097280"/>
          </a:xfrm>
          <a:prstGeom prst="rect">
            <a:avLst/>
          </a:prstGeom>
          <a:noFill/>
          <a:ln/>
        </p:spPr>
        <p:txBody>
          <a:bodyPr wrap="square" lIns="0" tIns="0" rIns="0" bIns="0" rtlCol="0" anchor="t"/>
          <a:lstStyle/>
          <a:p>
            <a:pPr indent="0" marL="0">
              <a:buNone/>
            </a:pPr>
            <a:r>
              <a:rPr lang="en-US" sz="1400" dirty="0">
                <a:solidFill>
                  <a:schemeClr val="tx1"/>
                </a:solidFill>
              </a:rPr>
              <a:t>청년미래적금 대상</a:t>
            </a:r>
            <a:endParaRPr lang="en-US" sz="1400" dirty="0"/>
          </a:p>
          <a:p>
            <a:pPr indent="0" marL="0">
              <a:buNone/>
            </a:pPr>
            <a:r>
              <a:rPr lang="en-US" sz="1400" dirty="0">
                <a:solidFill>
                  <a:schemeClr val="tx1"/>
                </a:solidFill>
              </a:rPr>
              <a:t>월 실직 위험 0.68%</a:t>
            </a:r>
            <a:endParaRPr lang="en-US" sz="1400" dirty="0"/>
          </a:p>
          <a:p>
            <a:pPr indent="0" marL="0">
              <a:buNone/>
            </a:pPr>
            <a:r>
              <a:rPr lang="en-US" sz="1400" dirty="0">
                <a:solidFill>
                  <a:schemeClr val="tx1"/>
                </a:solidFill>
              </a:rPr>
              <a:t>연봉 상승 약 8%</a:t>
            </a:r>
            <a:endParaRPr lang="en-US" sz="1400" dirty="0"/>
          </a:p>
        </p:txBody>
      </p:sp>
      <p:sp>
        <p:nvSpPr>
          <p:cNvPr id="15" name="Text 13"/>
          <p:cNvSpPr txBox="1"/>
          <p:nvPr/>
        </p:nvSpPr>
        <p:spPr>
          <a:xfrm>
            <a:off x="3040380" y="4114800"/>
            <a:ext cx="1645920" cy="502920"/>
          </a:xfrm>
          <a:prstGeom prst="rect">
            <a:avLst/>
          </a:prstGeom>
          <a:noFill/>
          <a:ln/>
        </p:spPr>
        <p:txBody>
          <a:bodyPr wrap="square" lIns="0" tIns="0" rIns="0" bIns="0" rtlCol="0" anchor="t"/>
          <a:lstStyle/>
          <a:p>
            <a:pPr indent="0" marL="0">
              <a:buNone/>
            </a:pPr>
            <a:r>
              <a:rPr lang="en-US" sz="1200" b="1" dirty="0">
                <a:solidFill>
                  <a:schemeClr val="accent1"/>
                </a:solidFill>
              </a:rPr>
              <a:t>파라미터 20개</a:t>
            </a:r>
            <a:endParaRPr lang="en-US" sz="1200" dirty="0"/>
          </a:p>
        </p:txBody>
      </p:sp>
      <p:sp>
        <p:nvSpPr>
          <p:cNvPr id="16" name="flow-arrow-1"/>
          <p:cNvSpPr/>
          <p:nvPr/>
        </p:nvSpPr>
        <p:spPr>
          <a:xfrm>
            <a:off x="4850892" y="2971800"/>
            <a:ext cx="201168" cy="274320"/>
          </a:xfrm>
          <a:prstGeom prst="rightArrow">
            <a:avLst/>
          </a:prstGeom>
          <a:solidFill>
            <a:schemeClr val="accent3"/>
          </a:solidFill>
          <a:ln w="12700">
            <a:solidFill>
              <a:schemeClr val="accent3"/>
            </a:solidFill>
            <a:prstDash val="solid"/>
          </a:ln>
        </p:spPr>
      </p:sp>
      <p:sp>
        <p:nvSpPr>
          <p:cNvPr id="17" name="flow-2"/>
          <p:cNvSpPr/>
          <p:nvPr/>
        </p:nvSpPr>
        <p:spPr>
          <a:xfrm>
            <a:off x="5074920" y="1463040"/>
            <a:ext cx="2011680" cy="3291840"/>
          </a:xfrm>
          <a:prstGeom prst="roundRect">
            <a:avLst>
              <a:gd name="adj" fmla="val 5455"/>
            </a:avLst>
          </a:prstGeom>
          <a:solidFill>
            <a:srgbClr val="DCE8F6"/>
          </a:solidFill>
          <a:ln w="12700">
            <a:solidFill>
              <a:srgbClr val="DCE8F6"/>
            </a:solidFill>
            <a:prstDash val="solid"/>
          </a:ln>
          <a:effectLst>
            <a:outerShdw sx="100000" sy="100000" kx="0" ky="0" algn="bl" rotWithShape="0" blurRad="101600" dist="25400" dir="5400000">
              <a:srgbClr val="000000">
                <a:alpha val="12000"/>
              </a:srgbClr>
            </a:outerShdw>
          </a:effectLst>
        </p:spPr>
      </p:sp>
      <p:sp>
        <p:nvSpPr>
          <p:cNvPr id="18" name="num-3-5.8"/>
          <p:cNvSpPr/>
          <p:nvPr/>
        </p:nvSpPr>
        <p:spPr>
          <a:xfrm>
            <a:off x="5303520" y="1691640"/>
            <a:ext cx="512064" cy="512064"/>
          </a:xfrm>
          <a:prstGeom prst="ellipse">
            <a:avLst/>
          </a:prstGeom>
          <a:solidFill>
            <a:schemeClr val="accent1"/>
          </a:solidFill>
          <a:ln w="12700">
            <a:solidFill>
              <a:schemeClr val="accent1"/>
            </a:solidFill>
            <a:prstDash val="solid"/>
          </a:ln>
        </p:spPr>
      </p:sp>
      <p:sp>
        <p:nvSpPr>
          <p:cNvPr id="19" name="Text 17"/>
          <p:cNvSpPr txBox="1"/>
          <p:nvPr/>
        </p:nvSpPr>
        <p:spPr>
          <a:xfrm>
            <a:off x="5303520" y="169164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8"/>
          <p:cNvSpPr txBox="1"/>
          <p:nvPr/>
        </p:nvSpPr>
        <p:spPr>
          <a:xfrm>
            <a:off x="5303520" y="2377440"/>
            <a:ext cx="1645920" cy="411480"/>
          </a:xfrm>
          <a:prstGeom prst="rect">
            <a:avLst/>
          </a:prstGeom>
          <a:noFill/>
          <a:ln/>
        </p:spPr>
        <p:txBody>
          <a:bodyPr wrap="square" lIns="0" tIns="0" rIns="0" bIns="0" rtlCol="0" anchor="ctr"/>
          <a:lstStyle/>
          <a:p>
            <a:pPr indent="0" marL="0">
              <a:buNone/>
            </a:pPr>
            <a:r>
              <a:rPr lang="en-US" sz="1800" b="1" dirty="0">
                <a:solidFill>
                  <a:schemeClr val="tx1"/>
                </a:solidFill>
              </a:rPr>
              <a:t>시뮬레이션</a:t>
            </a:r>
            <a:endParaRPr lang="en-US" sz="1800" dirty="0"/>
          </a:p>
        </p:txBody>
      </p:sp>
      <p:sp>
        <p:nvSpPr>
          <p:cNvPr id="21" name="Text 19"/>
          <p:cNvSpPr txBox="1"/>
          <p:nvPr/>
        </p:nvSpPr>
        <p:spPr>
          <a:xfrm>
            <a:off x="5303520" y="2880360"/>
            <a:ext cx="1645920" cy="1097280"/>
          </a:xfrm>
          <a:prstGeom prst="rect">
            <a:avLst/>
          </a:prstGeom>
          <a:noFill/>
          <a:ln/>
        </p:spPr>
        <p:txBody>
          <a:bodyPr wrap="square" lIns="0" tIns="0" rIns="0" bIns="0" rtlCol="0" anchor="t"/>
          <a:lstStyle/>
          <a:p>
            <a:pPr indent="0" marL="0">
              <a:buNone/>
            </a:pPr>
            <a:r>
              <a:rPr lang="en-US" sz="1400" dirty="0">
                <a:solidFill>
                  <a:schemeClr val="tx1"/>
                </a:solidFill>
              </a:rPr>
              <a:t>미래 2,000개</a:t>
            </a:r>
            <a:endParaRPr lang="en-US" sz="1400" dirty="0"/>
          </a:p>
          <a:p>
            <a:pPr indent="0" marL="0">
              <a:buNone/>
            </a:pPr>
            <a:r>
              <a:rPr lang="en-US" sz="1400" dirty="0">
                <a:solidFill>
                  <a:schemeClr val="tx1"/>
                </a:solidFill>
              </a:rPr>
              <a:t>× 120개월</a:t>
            </a:r>
            <a:endParaRPr lang="en-US" sz="1400" dirty="0"/>
          </a:p>
          <a:p>
            <a:pPr indent="0" marL="0">
              <a:buNone/>
            </a:pPr>
            <a:r>
              <a:rPr lang="en-US" sz="1400" dirty="0">
                <a:solidFill>
                  <a:schemeClr val="tx1"/>
                </a:solidFill>
              </a:rPr>
              <a:t>매달 14단계 계산</a:t>
            </a:r>
            <a:endParaRPr lang="en-US" sz="1400" dirty="0"/>
          </a:p>
        </p:txBody>
      </p:sp>
      <p:sp>
        <p:nvSpPr>
          <p:cNvPr id="22" name="Text 20"/>
          <p:cNvSpPr txBox="1"/>
          <p:nvPr/>
        </p:nvSpPr>
        <p:spPr>
          <a:xfrm>
            <a:off x="5303520" y="4114800"/>
            <a:ext cx="1645920" cy="502920"/>
          </a:xfrm>
          <a:prstGeom prst="rect">
            <a:avLst/>
          </a:prstGeom>
          <a:noFill/>
          <a:ln/>
        </p:spPr>
        <p:txBody>
          <a:bodyPr wrap="square" lIns="0" tIns="0" rIns="0" bIns="0" rtlCol="0" anchor="t"/>
          <a:lstStyle/>
          <a:p>
            <a:pPr indent="0" marL="0">
              <a:buNone/>
            </a:pPr>
            <a:r>
              <a:rPr lang="en-US" sz="1200" b="1" dirty="0">
                <a:solidFill>
                  <a:schemeClr val="accent1"/>
                </a:solidFill>
              </a:rPr>
              <a:t>약 0.1초</a:t>
            </a:r>
            <a:endParaRPr lang="en-US" sz="1200" dirty="0"/>
          </a:p>
        </p:txBody>
      </p:sp>
      <p:sp>
        <p:nvSpPr>
          <p:cNvPr id="23" name="flow-arrow-2"/>
          <p:cNvSpPr/>
          <p:nvPr/>
        </p:nvSpPr>
        <p:spPr>
          <a:xfrm>
            <a:off x="7114032" y="2971800"/>
            <a:ext cx="201168" cy="274320"/>
          </a:xfrm>
          <a:prstGeom prst="rightArrow">
            <a:avLst/>
          </a:prstGeom>
          <a:solidFill>
            <a:schemeClr val="accent3"/>
          </a:solidFill>
          <a:ln w="12700">
            <a:solidFill>
              <a:schemeClr val="accent3"/>
            </a:solidFill>
            <a:prstDash val="solid"/>
          </a:ln>
        </p:spPr>
      </p:sp>
      <p:sp>
        <p:nvSpPr>
          <p:cNvPr id="24" name="flow-3"/>
          <p:cNvSpPr/>
          <p:nvPr/>
        </p:nvSpPr>
        <p:spPr>
          <a:xfrm>
            <a:off x="7338060" y="1463040"/>
            <a:ext cx="2011680" cy="329184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25" name="num-4-8.275"/>
          <p:cNvSpPr/>
          <p:nvPr/>
        </p:nvSpPr>
        <p:spPr>
          <a:xfrm>
            <a:off x="7566660" y="1691640"/>
            <a:ext cx="512064" cy="512064"/>
          </a:xfrm>
          <a:prstGeom prst="ellipse">
            <a:avLst/>
          </a:prstGeom>
          <a:solidFill>
            <a:schemeClr val="accent1"/>
          </a:solidFill>
          <a:ln w="12700">
            <a:solidFill>
              <a:schemeClr val="accent1"/>
            </a:solidFill>
            <a:prstDash val="solid"/>
          </a:ln>
        </p:spPr>
      </p:sp>
      <p:sp>
        <p:nvSpPr>
          <p:cNvPr id="26" name="Text 24"/>
          <p:cNvSpPr txBox="1"/>
          <p:nvPr/>
        </p:nvSpPr>
        <p:spPr>
          <a:xfrm>
            <a:off x="7566660" y="169164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 25"/>
          <p:cNvSpPr txBox="1"/>
          <p:nvPr/>
        </p:nvSpPr>
        <p:spPr>
          <a:xfrm>
            <a:off x="7566660" y="2377440"/>
            <a:ext cx="1645920" cy="411480"/>
          </a:xfrm>
          <a:prstGeom prst="rect">
            <a:avLst/>
          </a:prstGeom>
          <a:noFill/>
          <a:ln/>
        </p:spPr>
        <p:txBody>
          <a:bodyPr wrap="square" lIns="0" tIns="0" rIns="0" bIns="0" rtlCol="0" anchor="ctr"/>
          <a:lstStyle/>
          <a:p>
            <a:pPr indent="0" marL="0">
              <a:buNone/>
            </a:pPr>
            <a:r>
              <a:rPr lang="en-US" sz="1800" b="1" dirty="0">
                <a:solidFill>
                  <a:schemeClr val="tx1"/>
                </a:solidFill>
              </a:rPr>
              <a:t>결과</a:t>
            </a:r>
            <a:endParaRPr lang="en-US" sz="1800" dirty="0"/>
          </a:p>
        </p:txBody>
      </p:sp>
      <p:sp>
        <p:nvSpPr>
          <p:cNvPr id="28" name="Text 26"/>
          <p:cNvSpPr txBox="1"/>
          <p:nvPr/>
        </p:nvSpPr>
        <p:spPr>
          <a:xfrm>
            <a:off x="7566660" y="2880360"/>
            <a:ext cx="1645920" cy="1097280"/>
          </a:xfrm>
          <a:prstGeom prst="rect">
            <a:avLst/>
          </a:prstGeom>
          <a:noFill/>
          <a:ln/>
        </p:spPr>
        <p:txBody>
          <a:bodyPr wrap="square" lIns="0" tIns="0" rIns="0" bIns="0" rtlCol="0" anchor="t"/>
          <a:lstStyle/>
          <a:p>
            <a:pPr indent="0" marL="0">
              <a:buNone/>
            </a:pPr>
            <a:r>
              <a:rPr lang="en-US" sz="1400" dirty="0">
                <a:solidFill>
                  <a:schemeClr val="tx1"/>
                </a:solidFill>
              </a:rPr>
              <a:t>가능성 약 58%</a:t>
            </a:r>
            <a:endParaRPr lang="en-US" sz="1400" dirty="0"/>
          </a:p>
          <a:p>
            <a:pPr indent="0" marL="0">
              <a:buNone/>
            </a:pPr>
            <a:r>
              <a:rPr lang="en-US" sz="1400" dirty="0">
                <a:solidFill>
                  <a:schemeClr val="tx1"/>
                </a:solidFill>
              </a:rPr>
              <a:t>빚질 가능성 19%</a:t>
            </a:r>
            <a:endParaRPr lang="en-US" sz="1400" dirty="0"/>
          </a:p>
          <a:p>
            <a:pPr indent="0" marL="0">
              <a:buNone/>
            </a:pPr>
            <a:r>
              <a:rPr lang="en-US" sz="1400" dirty="0">
                <a:solidFill>
                  <a:schemeClr val="tx1"/>
                </a:solidFill>
              </a:rPr>
              <a:t>주요 원인: 급전</a:t>
            </a:r>
            <a:endParaRPr lang="en-US" sz="1400" dirty="0"/>
          </a:p>
        </p:txBody>
      </p:sp>
      <p:sp>
        <p:nvSpPr>
          <p:cNvPr id="29" name="Text 27"/>
          <p:cNvSpPr txBox="1"/>
          <p:nvPr/>
        </p:nvSpPr>
        <p:spPr>
          <a:xfrm>
            <a:off x="7566660" y="4114800"/>
            <a:ext cx="1645920" cy="502920"/>
          </a:xfrm>
          <a:prstGeom prst="rect">
            <a:avLst/>
          </a:prstGeom>
          <a:noFill/>
          <a:ln/>
        </p:spPr>
        <p:txBody>
          <a:bodyPr wrap="square" lIns="0" tIns="0" rIns="0" bIns="0" rtlCol="0" anchor="t"/>
          <a:lstStyle/>
          <a:p>
            <a:pPr indent="0" marL="0">
              <a:buNone/>
            </a:pPr>
            <a:r>
              <a:rPr lang="en-US" sz="1200" b="1" dirty="0">
                <a:solidFill>
                  <a:schemeClr val="accent1"/>
                </a:solidFill>
              </a:rPr>
              <a:t>첫 문장 하나</a:t>
            </a:r>
            <a:endParaRPr lang="en-US" sz="1200" dirty="0"/>
          </a:p>
        </p:txBody>
      </p:sp>
      <p:sp>
        <p:nvSpPr>
          <p:cNvPr id="30" name="flow-arrow-3"/>
          <p:cNvSpPr/>
          <p:nvPr/>
        </p:nvSpPr>
        <p:spPr>
          <a:xfrm>
            <a:off x="9377172" y="2971800"/>
            <a:ext cx="201168" cy="274320"/>
          </a:xfrm>
          <a:prstGeom prst="rightArrow">
            <a:avLst/>
          </a:prstGeom>
          <a:solidFill>
            <a:schemeClr val="accent3"/>
          </a:solidFill>
          <a:ln w="12700">
            <a:solidFill>
              <a:schemeClr val="accent3"/>
            </a:solidFill>
            <a:prstDash val="solid"/>
          </a:ln>
        </p:spPr>
      </p:sp>
      <p:sp>
        <p:nvSpPr>
          <p:cNvPr id="31" name="flow-4"/>
          <p:cNvSpPr/>
          <p:nvPr/>
        </p:nvSpPr>
        <p:spPr>
          <a:xfrm>
            <a:off x="9601200" y="1463040"/>
            <a:ext cx="2011680" cy="3291840"/>
          </a:xfrm>
          <a:prstGeom prst="roundRect">
            <a:avLst>
              <a:gd name="adj" fmla="val 5455"/>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32" name="num-5-10.75"/>
          <p:cNvSpPr/>
          <p:nvPr/>
        </p:nvSpPr>
        <p:spPr>
          <a:xfrm>
            <a:off x="9829800" y="1691640"/>
            <a:ext cx="512064" cy="512064"/>
          </a:xfrm>
          <a:prstGeom prst="ellipse">
            <a:avLst/>
          </a:prstGeom>
          <a:solidFill>
            <a:schemeClr val="accent1"/>
          </a:solidFill>
          <a:ln w="12700">
            <a:solidFill>
              <a:schemeClr val="accent1"/>
            </a:solidFill>
            <a:prstDash val="solid"/>
          </a:ln>
        </p:spPr>
      </p:sp>
      <p:sp>
        <p:nvSpPr>
          <p:cNvPr id="33" name="Text 31"/>
          <p:cNvSpPr txBox="1"/>
          <p:nvPr/>
        </p:nvSpPr>
        <p:spPr>
          <a:xfrm>
            <a:off x="9829800" y="169164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4" name="Text 32"/>
          <p:cNvSpPr txBox="1"/>
          <p:nvPr/>
        </p:nvSpPr>
        <p:spPr>
          <a:xfrm>
            <a:off x="9829800" y="2377440"/>
            <a:ext cx="1645920" cy="411480"/>
          </a:xfrm>
          <a:prstGeom prst="rect">
            <a:avLst/>
          </a:prstGeom>
          <a:noFill/>
          <a:ln/>
        </p:spPr>
        <p:txBody>
          <a:bodyPr wrap="square" lIns="0" tIns="0" rIns="0" bIns="0" rtlCol="0" anchor="ctr"/>
          <a:lstStyle/>
          <a:p>
            <a:pPr indent="0" marL="0">
              <a:buNone/>
            </a:pPr>
            <a:r>
              <a:rPr lang="en-US" sz="1800" b="1" dirty="0">
                <a:solidFill>
                  <a:schemeClr val="tx1"/>
                </a:solidFill>
              </a:rPr>
              <a:t>바꿔 보기</a:t>
            </a:r>
            <a:endParaRPr lang="en-US" sz="1800" dirty="0"/>
          </a:p>
        </p:txBody>
      </p:sp>
      <p:sp>
        <p:nvSpPr>
          <p:cNvPr id="35" name="Text 33"/>
          <p:cNvSpPr txBox="1"/>
          <p:nvPr/>
        </p:nvSpPr>
        <p:spPr>
          <a:xfrm>
            <a:off x="9829800" y="2880360"/>
            <a:ext cx="1645920" cy="1097280"/>
          </a:xfrm>
          <a:prstGeom prst="rect">
            <a:avLst/>
          </a:prstGeom>
          <a:noFill/>
          <a:ln/>
        </p:spPr>
        <p:txBody>
          <a:bodyPr wrap="square" lIns="0" tIns="0" rIns="0" bIns="0" rtlCol="0" anchor="t"/>
          <a:lstStyle/>
          <a:p>
            <a:pPr indent="0" marL="0">
              <a:buNone/>
            </a:pPr>
            <a:r>
              <a:rPr lang="en-US" sz="1400" dirty="0">
                <a:solidFill>
                  <a:schemeClr val="tx1"/>
                </a:solidFill>
              </a:rPr>
              <a:t>변동지출 −10만 원</a:t>
            </a:r>
            <a:endParaRPr lang="en-US" sz="1400" dirty="0"/>
          </a:p>
          <a:p>
            <a:pPr indent="0" marL="0">
              <a:buNone/>
            </a:pPr>
            <a:r>
              <a:rPr lang="en-US" sz="1400" dirty="0">
                <a:solidFill>
                  <a:schemeClr val="tx1"/>
                </a:solidFill>
              </a:rPr>
              <a:t>→ 70%</a:t>
            </a:r>
            <a:endParaRPr lang="en-US" sz="1400" dirty="0"/>
          </a:p>
          <a:p>
            <a:pPr indent="0" marL="0">
              <a:buNone/>
            </a:pPr>
            <a:r>
              <a:rPr lang="en-US" sz="1400" dirty="0">
                <a:solidFill>
                  <a:schemeClr val="tx1"/>
                </a:solidFill>
              </a:rPr>
              <a:t>1년 일찍 도착</a:t>
            </a:r>
            <a:endParaRPr lang="en-US" sz="1400" dirty="0"/>
          </a:p>
        </p:txBody>
      </p:sp>
      <p:sp>
        <p:nvSpPr>
          <p:cNvPr id="36" name="Text 34"/>
          <p:cNvSpPr txBox="1"/>
          <p:nvPr/>
        </p:nvSpPr>
        <p:spPr>
          <a:xfrm>
            <a:off x="9829800" y="4114800"/>
            <a:ext cx="1645920" cy="502920"/>
          </a:xfrm>
          <a:prstGeom prst="rect">
            <a:avLst/>
          </a:prstGeom>
          <a:noFill/>
          <a:ln/>
        </p:spPr>
        <p:txBody>
          <a:bodyPr wrap="square" lIns="0" tIns="0" rIns="0" bIns="0" rtlCol="0" anchor="t"/>
          <a:lstStyle/>
          <a:p>
            <a:pPr indent="0" marL="0">
              <a:buNone/>
            </a:pPr>
            <a:r>
              <a:rPr lang="en-US" sz="1200" b="1" dirty="0">
                <a:solidFill>
                  <a:schemeClr val="accent1"/>
                </a:solidFill>
              </a:rPr>
              <a:t>같은 미래로 비교</a:t>
            </a:r>
            <a:endParaRPr lang="en-US" sz="1200" dirty="0"/>
          </a:p>
        </p:txBody>
      </p:sp>
      <p:sp>
        <p:nvSpPr>
          <p:cNvPr id="37" name="loop-1"/>
          <p:cNvSpPr/>
          <p:nvPr/>
        </p:nvSpPr>
        <p:spPr>
          <a:xfrm>
            <a:off x="10607040" y="4754880"/>
            <a:ext cx="0" cy="365760"/>
          </a:xfrm>
          <a:prstGeom prst="line">
            <a:avLst/>
          </a:prstGeom>
          <a:noFill/>
          <a:ln w="25400">
            <a:solidFill>
              <a:schemeClr val="accent1"/>
            </a:solidFill>
            <a:prstDash val="dash"/>
          </a:ln>
        </p:spPr>
      </p:sp>
      <p:sp>
        <p:nvSpPr>
          <p:cNvPr id="38" name="loop-2"/>
          <p:cNvSpPr/>
          <p:nvPr/>
        </p:nvSpPr>
        <p:spPr>
          <a:xfrm>
            <a:off x="6080760" y="5120640"/>
            <a:ext cx="4526280" cy="0"/>
          </a:xfrm>
          <a:prstGeom prst="line">
            <a:avLst/>
          </a:prstGeom>
          <a:noFill/>
          <a:ln w="25400">
            <a:solidFill>
              <a:schemeClr val="accent1"/>
            </a:solidFill>
            <a:prstDash val="dash"/>
          </a:ln>
        </p:spPr>
      </p:sp>
      <p:sp>
        <p:nvSpPr>
          <p:cNvPr id="39" name="loop-3"/>
          <p:cNvSpPr/>
          <p:nvPr/>
        </p:nvSpPr>
        <p:spPr>
          <a:xfrm>
            <a:off x="6080760" y="4754880"/>
            <a:ext cx="0" cy="365760"/>
          </a:xfrm>
          <a:prstGeom prst="line">
            <a:avLst/>
          </a:prstGeom>
          <a:noFill/>
          <a:ln w="25400">
            <a:solidFill>
              <a:schemeClr val="accent1"/>
            </a:solidFill>
            <a:prstDash val="dash"/>
            <a:headEnd type="triangle"/>
          </a:ln>
        </p:spPr>
      </p:sp>
      <p:sp>
        <p:nvSpPr>
          <p:cNvPr id="40" name="Text 38"/>
          <p:cNvSpPr txBox="1"/>
          <p:nvPr/>
        </p:nvSpPr>
        <p:spPr>
          <a:xfrm>
            <a:off x="548640" y="5303520"/>
            <a:ext cx="11064240" cy="411480"/>
          </a:xfrm>
          <a:prstGeom prst="rect">
            <a:avLst/>
          </a:prstGeom>
          <a:noFill/>
          <a:ln/>
        </p:spPr>
        <p:txBody>
          <a:bodyPr wrap="square" lIns="0" tIns="0" rIns="0" bIns="0" rtlCol="0" anchor="ctr"/>
          <a:lstStyle/>
          <a:p>
            <a:pPr algn="ctr" indent="0" marL="0">
              <a:buNone/>
            </a:pPr>
            <a:r>
              <a:rPr lang="en-US" sz="1400" b="1" dirty="0">
                <a:solidFill>
                  <a:schemeClr val="accent1"/>
                </a:solidFill>
              </a:rPr>
              <a:t>조건을 바꿀 때마다 같은 2,000개 미래로 다시 계산 → 차이는 바꾼 내용에서만 나와요</a:t>
            </a:r>
            <a:endParaRPr lang="en-US" sz="1400" dirty="0"/>
          </a:p>
        </p:txBody>
      </p:sp>
      <p:sp>
        <p:nvSpPr>
          <p:cNvPr id="41" name="Text 39"/>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dirty="0">
                <a:solidFill>
                  <a:srgbClr val="6B7785"/>
                </a:solidFill>
              </a:rPr>
              <a:t>입력은 브라우저에만 저장하고, 계산은 서버 엔진 한 곳에서만 해요 (서버에 입력을 남기지 않음)</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맞히는 척이 아니라, 실제 자료로 검증했어요</a:t>
            </a:r>
            <a:endParaRPr lang="en-US" sz="3000" dirty="0"/>
          </a:p>
        </p:txBody>
      </p:sp>
      <p:graphicFrame>
        <p:nvGraphicFramePr>
          <p:cNvPr id="3" name="backtest-chart" descr=""/>
          <p:cNvGraphicFramePr/>
          <p:nvPr/>
        </p:nvGraphicFramePr>
        <p:xfrm>
          <a:off x="457200" y="132588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675120" y="1371600"/>
            <a:ext cx="2286000" cy="548640"/>
          </a:xfrm>
          <a:prstGeom prst="rect">
            <a:avLst/>
          </a:prstGeom>
          <a:noFill/>
          <a:ln/>
        </p:spPr>
        <p:txBody>
          <a:bodyPr wrap="square" lIns="0" tIns="0" rIns="0" bIns="0" rtlCol="0" anchor="ctr"/>
          <a:lstStyle/>
          <a:p>
            <a:pPr indent="0" marL="0">
              <a:buNone/>
            </a:pPr>
            <a:r>
              <a:rPr lang="en-US" sz="2400" b="1" dirty="0">
                <a:solidFill>
                  <a:schemeClr val="accent1"/>
                </a:solidFill>
              </a:rPr>
              <a:t>0.6~0.9%p</a:t>
            </a:r>
            <a:endParaRPr lang="en-US" sz="2400" dirty="0"/>
          </a:p>
        </p:txBody>
      </p:sp>
      <p:sp>
        <p:nvSpPr>
          <p:cNvPr id="5" name="Text 2"/>
          <p:cNvSpPr txBox="1"/>
          <p:nvPr/>
        </p:nvSpPr>
        <p:spPr>
          <a:xfrm>
            <a:off x="9006840" y="1371600"/>
            <a:ext cx="2606040" cy="548640"/>
          </a:xfrm>
          <a:prstGeom prst="rect">
            <a:avLst/>
          </a:prstGeom>
          <a:noFill/>
          <a:ln/>
        </p:spPr>
        <p:txBody>
          <a:bodyPr wrap="square" lIns="0" tIns="0" rIns="0" bIns="0" rtlCol="0" anchor="ctr"/>
          <a:lstStyle/>
          <a:p>
            <a:pPr indent="0" marL="0">
              <a:buNone/>
            </a:pPr>
            <a:r>
              <a:rPr lang="en-US" sz="1500" b="1" dirty="0">
                <a:solidFill>
                  <a:schemeClr val="tx1"/>
                </a:solidFill>
              </a:rPr>
              <a:t>백테스트 차이</a:t>
            </a:r>
            <a:endParaRPr lang="en-US" sz="1500" dirty="0"/>
          </a:p>
        </p:txBody>
      </p:sp>
      <p:sp>
        <p:nvSpPr>
          <p:cNvPr id="6" name="Text 3"/>
          <p:cNvSpPr txBox="1"/>
          <p:nvPr/>
        </p:nvSpPr>
        <p:spPr>
          <a:xfrm>
            <a:off x="6675120" y="1920240"/>
            <a:ext cx="4937760" cy="457200"/>
          </a:xfrm>
          <a:prstGeom prst="rect">
            <a:avLst/>
          </a:prstGeom>
          <a:noFill/>
          <a:ln/>
        </p:spPr>
        <p:txBody>
          <a:bodyPr wrap="square" lIns="0" tIns="0" rIns="0" bIns="0" rtlCol="0" anchor="t"/>
          <a:lstStyle/>
          <a:p>
            <a:pPr indent="0" marL="0">
              <a:buNone/>
            </a:pPr>
            <a:r>
              <a:rPr lang="en-US" sz="1200" dirty="0">
                <a:solidFill>
                  <a:srgbClr val="6B7785"/>
                </a:solidFill>
              </a:rPr>
              <a:t>2022년 고물가 시기 가입자 286.8만 명, 세 시점 모두 실제 95% 범위 안</a:t>
            </a:r>
            <a:endParaRPr lang="en-US" sz="1200" dirty="0"/>
          </a:p>
        </p:txBody>
      </p:sp>
      <p:sp>
        <p:nvSpPr>
          <p:cNvPr id="7" name="Text 4"/>
          <p:cNvSpPr txBox="1"/>
          <p:nvPr/>
        </p:nvSpPr>
        <p:spPr>
          <a:xfrm>
            <a:off x="6675120" y="2487168"/>
            <a:ext cx="2286000" cy="548640"/>
          </a:xfrm>
          <a:prstGeom prst="rect">
            <a:avLst/>
          </a:prstGeom>
          <a:noFill/>
          <a:ln/>
        </p:spPr>
        <p:txBody>
          <a:bodyPr wrap="square" lIns="0" tIns="0" rIns="0" bIns="0" rtlCol="0" anchor="ctr"/>
          <a:lstStyle/>
          <a:p>
            <a:pPr indent="0" marL="0">
              <a:buNone/>
            </a:pPr>
            <a:r>
              <a:rPr lang="en-US" sz="2400" b="1" dirty="0">
                <a:solidFill>
                  <a:schemeClr val="accent1"/>
                </a:solidFill>
              </a:rPr>
              <a:t>60번 / 60번</a:t>
            </a:r>
            <a:endParaRPr lang="en-US" sz="2400" dirty="0"/>
          </a:p>
        </p:txBody>
      </p:sp>
      <p:sp>
        <p:nvSpPr>
          <p:cNvPr id="8" name="Text 5"/>
          <p:cNvSpPr txBox="1"/>
          <p:nvPr/>
        </p:nvSpPr>
        <p:spPr>
          <a:xfrm>
            <a:off x="9006840" y="2487168"/>
            <a:ext cx="2606040" cy="548640"/>
          </a:xfrm>
          <a:prstGeom prst="rect">
            <a:avLst/>
          </a:prstGeom>
          <a:noFill/>
          <a:ln/>
        </p:spPr>
        <p:txBody>
          <a:bodyPr wrap="square" lIns="0" tIns="0" rIns="0" bIns="0" rtlCol="0" anchor="ctr"/>
          <a:lstStyle/>
          <a:p>
            <a:pPr indent="0" marL="0">
              <a:buNone/>
            </a:pPr>
            <a:r>
              <a:rPr lang="en-US" sz="1500" b="1" dirty="0">
                <a:solidFill>
                  <a:schemeClr val="tx1"/>
                </a:solidFill>
              </a:rPr>
              <a:t>가정을 바꿔도 결론 유지</a:t>
            </a:r>
            <a:endParaRPr lang="en-US" sz="1500" dirty="0"/>
          </a:p>
        </p:txBody>
      </p:sp>
      <p:sp>
        <p:nvSpPr>
          <p:cNvPr id="9" name="Text 6"/>
          <p:cNvSpPr txBox="1"/>
          <p:nvPr/>
        </p:nvSpPr>
        <p:spPr>
          <a:xfrm>
            <a:off x="6675120" y="3035808"/>
            <a:ext cx="4937760" cy="457200"/>
          </a:xfrm>
          <a:prstGeom prst="rect">
            <a:avLst/>
          </a:prstGeom>
          <a:noFill/>
          <a:ln/>
        </p:spPr>
        <p:txBody>
          <a:bodyPr wrap="square" lIns="0" tIns="0" rIns="0" bIns="0" rtlCol="0" anchor="t"/>
          <a:lstStyle/>
          <a:p>
            <a:pPr indent="0" marL="0">
              <a:buNone/>
            </a:pPr>
            <a:r>
              <a:rPr lang="en-US" sz="1200" dirty="0">
                <a:solidFill>
                  <a:srgbClr val="6B7785"/>
                </a:solidFill>
              </a:rPr>
              <a:t>불확실한 값을 한꺼번에 흔들어도 ‘비상금 먼저가 덜 위험’ 유지</a:t>
            </a:r>
            <a:endParaRPr lang="en-US" sz="1200" dirty="0"/>
          </a:p>
        </p:txBody>
      </p:sp>
      <p:sp>
        <p:nvSpPr>
          <p:cNvPr id="10" name="Text 7"/>
          <p:cNvSpPr txBox="1"/>
          <p:nvPr/>
        </p:nvSpPr>
        <p:spPr>
          <a:xfrm>
            <a:off x="6675120" y="3602736"/>
            <a:ext cx="2286000" cy="548640"/>
          </a:xfrm>
          <a:prstGeom prst="rect">
            <a:avLst/>
          </a:prstGeom>
          <a:noFill/>
          <a:ln/>
        </p:spPr>
        <p:txBody>
          <a:bodyPr wrap="square" lIns="0" tIns="0" rIns="0" bIns="0" rtlCol="0" anchor="ctr"/>
          <a:lstStyle/>
          <a:p>
            <a:pPr indent="0" marL="0">
              <a:buNone/>
            </a:pPr>
            <a:r>
              <a:rPr lang="en-US" sz="2400" b="1" dirty="0">
                <a:solidFill>
                  <a:schemeClr val="accent1"/>
                </a:solidFill>
              </a:rPr>
              <a:t>1조분의 1</a:t>
            </a:r>
            <a:endParaRPr lang="en-US" sz="2400" dirty="0"/>
          </a:p>
        </p:txBody>
      </p:sp>
      <p:sp>
        <p:nvSpPr>
          <p:cNvPr id="11" name="Text 8"/>
          <p:cNvSpPr txBox="1"/>
          <p:nvPr/>
        </p:nvSpPr>
        <p:spPr>
          <a:xfrm>
            <a:off x="9006840" y="3602736"/>
            <a:ext cx="2606040" cy="548640"/>
          </a:xfrm>
          <a:prstGeom prst="rect">
            <a:avLst/>
          </a:prstGeom>
          <a:noFill/>
          <a:ln/>
        </p:spPr>
        <p:txBody>
          <a:bodyPr wrap="square" lIns="0" tIns="0" rIns="0" bIns="0" rtlCol="0" anchor="ctr"/>
          <a:lstStyle/>
          <a:p>
            <a:pPr indent="0" marL="0">
              <a:buNone/>
            </a:pPr>
            <a:r>
              <a:rPr lang="en-US" sz="1500" b="1" dirty="0">
                <a:solidFill>
                  <a:schemeClr val="tx1"/>
                </a:solidFill>
              </a:rPr>
              <a:t>손계산과의 차이</a:t>
            </a:r>
            <a:endParaRPr lang="en-US" sz="1500" dirty="0"/>
          </a:p>
        </p:txBody>
      </p:sp>
      <p:sp>
        <p:nvSpPr>
          <p:cNvPr id="12" name="Text 9"/>
          <p:cNvSpPr txBox="1"/>
          <p:nvPr/>
        </p:nvSpPr>
        <p:spPr>
          <a:xfrm>
            <a:off x="6675120" y="4151376"/>
            <a:ext cx="4937760" cy="457200"/>
          </a:xfrm>
          <a:prstGeom prst="rect">
            <a:avLst/>
          </a:prstGeom>
          <a:noFill/>
          <a:ln/>
        </p:spPr>
        <p:txBody>
          <a:bodyPr wrap="square" lIns="0" tIns="0" rIns="0" bIns="0" rtlCol="0" anchor="t"/>
          <a:lstStyle/>
          <a:p>
            <a:pPr indent="0" marL="0">
              <a:buNone/>
            </a:pPr>
            <a:r>
              <a:rPr lang="en-US" sz="1200" dirty="0">
                <a:solidFill>
                  <a:srgbClr val="6B7785"/>
                </a:solidFill>
              </a:rPr>
              <a:t>무작위를 끄고 손으로 계산한 값과 비교 (목표 100만분의 1)</a:t>
            </a:r>
            <a:endParaRPr lang="en-US" sz="1200" dirty="0"/>
          </a:p>
        </p:txBody>
      </p:sp>
      <p:sp>
        <p:nvSpPr>
          <p:cNvPr id="13" name="Text 10"/>
          <p:cNvSpPr txBox="1"/>
          <p:nvPr/>
        </p:nvSpPr>
        <p:spPr>
          <a:xfrm>
            <a:off x="6675120" y="4718304"/>
            <a:ext cx="2286000" cy="548640"/>
          </a:xfrm>
          <a:prstGeom prst="rect">
            <a:avLst/>
          </a:prstGeom>
          <a:noFill/>
          <a:ln/>
        </p:spPr>
        <p:txBody>
          <a:bodyPr wrap="square" lIns="0" tIns="0" rIns="0" bIns="0" rtlCol="0" anchor="ctr"/>
          <a:lstStyle/>
          <a:p>
            <a:pPr indent="0" marL="0">
              <a:buNone/>
            </a:pPr>
            <a:r>
              <a:rPr lang="en-US" sz="2400" b="1" dirty="0">
                <a:solidFill>
                  <a:schemeClr val="accent1"/>
                </a:solidFill>
              </a:rPr>
              <a:t>12개 / 12개</a:t>
            </a:r>
            <a:endParaRPr lang="en-US" sz="2400" dirty="0"/>
          </a:p>
        </p:txBody>
      </p:sp>
      <p:sp>
        <p:nvSpPr>
          <p:cNvPr id="14" name="Text 11"/>
          <p:cNvSpPr txBox="1"/>
          <p:nvPr/>
        </p:nvSpPr>
        <p:spPr>
          <a:xfrm>
            <a:off x="9006840" y="4718304"/>
            <a:ext cx="2606040" cy="548640"/>
          </a:xfrm>
          <a:prstGeom prst="rect">
            <a:avLst/>
          </a:prstGeom>
          <a:noFill/>
          <a:ln/>
        </p:spPr>
        <p:txBody>
          <a:bodyPr wrap="square" lIns="0" tIns="0" rIns="0" bIns="0" rtlCol="0" anchor="ctr"/>
          <a:lstStyle/>
          <a:p>
            <a:pPr indent="0" marL="0">
              <a:buNone/>
            </a:pPr>
            <a:r>
              <a:rPr lang="en-US" sz="1500" b="1" dirty="0">
                <a:solidFill>
                  <a:schemeClr val="tx1"/>
                </a:solidFill>
              </a:rPr>
              <a:t>제도 규칙 일치</a:t>
            </a:r>
            <a:endParaRPr lang="en-US" sz="1500" dirty="0"/>
          </a:p>
        </p:txBody>
      </p:sp>
      <p:sp>
        <p:nvSpPr>
          <p:cNvPr id="15" name="Text 12"/>
          <p:cNvSpPr txBox="1"/>
          <p:nvPr/>
        </p:nvSpPr>
        <p:spPr>
          <a:xfrm>
            <a:off x="6675120" y="5266944"/>
            <a:ext cx="4937760" cy="457200"/>
          </a:xfrm>
          <a:prstGeom prst="rect">
            <a:avLst/>
          </a:prstGeom>
          <a:noFill/>
          <a:ln/>
        </p:spPr>
        <p:txBody>
          <a:bodyPr wrap="square" lIns="0" tIns="0" rIns="0" bIns="0" rtlCol="0" anchor="t"/>
          <a:lstStyle/>
          <a:p>
            <a:pPr indent="0" marL="0">
              <a:buNone/>
            </a:pPr>
            <a:r>
              <a:rPr lang="en-US" sz="1200" dirty="0">
                <a:solidFill>
                  <a:srgbClr val="6B7785"/>
                </a:solidFill>
              </a:rPr>
              <a:t>중도해지 이율·실업급여·적금 자격 경계값</a:t>
            </a:r>
            <a:endParaRPr lang="en-US" sz="1200" dirty="0"/>
          </a:p>
        </p:txBody>
      </p:sp>
      <p:sp>
        <p:nvSpPr>
          <p:cNvPr id="16" name="Text 13"/>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dirty="0">
                <a:solidFill>
                  <a:srgbClr val="6B7785"/>
                </a:solidFill>
              </a:rPr>
              <a:t>설계 보고서 7.2~7.4, 7.6. 한 사람의 미래를 맞히는 건 원리적으로 검증할 수 없어서, 집단 수준의 재현과 결론의 안정성으로 평가해요</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입력 쪽은 완성, 다음 주부터 엔진을 붙여요</a:t>
            </a:r>
            <a:endParaRPr lang="en-US" sz="3000" dirty="0"/>
          </a:p>
        </p:txBody>
      </p:sp>
      <p:sp>
        <p:nvSpPr>
          <p:cNvPr id="3" name="col-card-0"/>
          <p:cNvSpPr/>
          <p:nvPr/>
        </p:nvSpPr>
        <p:spPr>
          <a:xfrm>
            <a:off x="548640" y="1463040"/>
            <a:ext cx="5440680" cy="4572000"/>
          </a:xfrm>
          <a:prstGeom prst="roundRect">
            <a:avLst>
              <a:gd name="adj" fmla="val 2400"/>
            </a:avLst>
          </a:prstGeom>
          <a:solidFill>
            <a:srgbClr val="F2F5F9"/>
          </a:solidFill>
          <a:ln w="12700">
            <a:solidFill>
              <a:srgbClr val="F2F5F9"/>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914400" y="1691640"/>
            <a:ext cx="4754880" cy="457200"/>
          </a:xfrm>
          <a:prstGeom prst="rect">
            <a:avLst/>
          </a:prstGeom>
          <a:noFill/>
          <a:ln/>
        </p:spPr>
        <p:txBody>
          <a:bodyPr wrap="square" lIns="0" tIns="0" rIns="0" bIns="0" rtlCol="0" anchor="ctr"/>
          <a:lstStyle/>
          <a:p>
            <a:pPr indent="0" marL="0">
              <a:buNone/>
            </a:pPr>
            <a:r>
              <a:rPr lang="en-US" sz="2000" b="1" dirty="0">
                <a:solidFill>
                  <a:schemeClr val="tx1"/>
                </a:solidFill>
              </a:rPr>
              <a:t>지금까지</a:t>
            </a:r>
            <a:endParaRPr lang="en-US" sz="2000" dirty="0"/>
          </a:p>
        </p:txBody>
      </p:sp>
      <p:pic>
        <p:nvPicPr>
          <p:cNvPr id="5" name="col0-icon-0" descr="완료">    </p:cNvPr>
          <p:cNvPicPr>
            <a:picLocks noChangeAspect="1"/>
          </p:cNvPicPr>
          <p:nvPr/>
        </p:nvPicPr>
        <p:blipFill>
          <a:blip r:embed="rId1"/>
          <a:stretch>
            <a:fillRect/>
          </a:stretch>
        </p:blipFill>
        <p:spPr>
          <a:xfrm>
            <a:off x="914400" y="2441448"/>
            <a:ext cx="292608" cy="292608"/>
          </a:xfrm>
          <a:prstGeom prst="rect">
            <a:avLst/>
          </a:prstGeom>
        </p:spPr>
      </p:pic>
      <p:sp>
        <p:nvSpPr>
          <p:cNvPr id="6" name="Text 3"/>
          <p:cNvSpPr txBox="1"/>
          <p:nvPr/>
        </p:nvSpPr>
        <p:spPr>
          <a:xfrm>
            <a:off x="1371600" y="2377440"/>
            <a:ext cx="4434840" cy="420624"/>
          </a:xfrm>
          <a:prstGeom prst="rect">
            <a:avLst/>
          </a:prstGeom>
          <a:noFill/>
          <a:ln/>
        </p:spPr>
        <p:txBody>
          <a:bodyPr wrap="square" lIns="0" tIns="0" rIns="0" bIns="0" rtlCol="0" anchor="ctr"/>
          <a:lstStyle/>
          <a:p>
            <a:pPr indent="0" marL="0">
              <a:buNone/>
            </a:pPr>
            <a:r>
              <a:rPr lang="en-US" sz="1500" dirty="0">
                <a:solidFill>
                  <a:schemeClr val="tx1"/>
                </a:solidFill>
              </a:rPr>
              <a:t>입력 검사 · 경고 3종 · 청년미래적금 대상 판정</a:t>
            </a:r>
            <a:endParaRPr lang="en-US" sz="1500" dirty="0"/>
          </a:p>
        </p:txBody>
      </p:sp>
      <p:pic>
        <p:nvPicPr>
          <p:cNvPr id="7" name="col0-icon-1" descr="완료">    </p:cNvPr>
          <p:cNvPicPr>
            <a:picLocks noChangeAspect="1"/>
          </p:cNvPicPr>
          <p:nvPr/>
        </p:nvPicPr>
        <p:blipFill>
          <a:blip r:embed="rId2"/>
          <a:stretch>
            <a:fillRect/>
          </a:stretch>
        </p:blipFill>
        <p:spPr>
          <a:xfrm>
            <a:off x="914400" y="3127248"/>
            <a:ext cx="292608" cy="292608"/>
          </a:xfrm>
          <a:prstGeom prst="rect">
            <a:avLst/>
          </a:prstGeom>
        </p:spPr>
      </p:pic>
      <p:sp>
        <p:nvSpPr>
          <p:cNvPr id="8" name="Text 4"/>
          <p:cNvSpPr txBox="1"/>
          <p:nvPr/>
        </p:nvSpPr>
        <p:spPr>
          <a:xfrm>
            <a:off x="1371600" y="3063240"/>
            <a:ext cx="4434840" cy="420624"/>
          </a:xfrm>
          <a:prstGeom prst="rect">
            <a:avLst/>
          </a:prstGeom>
          <a:noFill/>
          <a:ln/>
        </p:spPr>
        <p:txBody>
          <a:bodyPr wrap="square" lIns="0" tIns="0" rIns="0" bIns="0" rtlCol="0" anchor="ctr"/>
          <a:lstStyle/>
          <a:p>
            <a:pPr indent="0" marL="0">
              <a:buNone/>
            </a:pPr>
            <a:r>
              <a:rPr lang="en-US" sz="1500" dirty="0">
                <a:solidFill>
                  <a:schemeClr val="tx1"/>
                </a:solidFill>
              </a:rPr>
              <a:t>대출 월 상환액 (상환 방식 4종)</a:t>
            </a:r>
            <a:endParaRPr lang="en-US" sz="1500" dirty="0"/>
          </a:p>
        </p:txBody>
      </p:sp>
      <p:pic>
        <p:nvPicPr>
          <p:cNvPr id="9" name="col0-icon-2" descr="완료">    </p:cNvPr>
          <p:cNvPicPr>
            <a:picLocks noChangeAspect="1"/>
          </p:cNvPicPr>
          <p:nvPr/>
        </p:nvPicPr>
        <p:blipFill>
          <a:blip r:embed="rId3"/>
          <a:stretch>
            <a:fillRect/>
          </a:stretch>
        </p:blipFill>
        <p:spPr>
          <a:xfrm>
            <a:off x="914400" y="3813048"/>
            <a:ext cx="292608" cy="292608"/>
          </a:xfrm>
          <a:prstGeom prst="rect">
            <a:avLst/>
          </a:prstGeom>
        </p:spPr>
      </p:pic>
      <p:sp>
        <p:nvSpPr>
          <p:cNvPr id="10" name="Text 5"/>
          <p:cNvSpPr txBox="1"/>
          <p:nvPr/>
        </p:nvSpPr>
        <p:spPr>
          <a:xfrm>
            <a:off x="1371600" y="3749040"/>
            <a:ext cx="4434840" cy="420624"/>
          </a:xfrm>
          <a:prstGeom prst="rect">
            <a:avLst/>
          </a:prstGeom>
          <a:noFill/>
          <a:ln/>
        </p:spPr>
        <p:txBody>
          <a:bodyPr wrap="square" lIns="0" tIns="0" rIns="0" bIns="0" rtlCol="0" anchor="ctr"/>
          <a:lstStyle/>
          <a:p>
            <a:pPr indent="0" marL="0">
              <a:buNone/>
            </a:pPr>
            <a:r>
              <a:rPr lang="en-US" sz="1500" dirty="0">
                <a:solidFill>
                  <a:schemeClr val="tx1"/>
                </a:solidFill>
              </a:rPr>
              <a:t>예정된 일 프리셋 5종 · 예시 사용자 3명</a:t>
            </a:r>
            <a:endParaRPr lang="en-US" sz="1500" dirty="0"/>
          </a:p>
        </p:txBody>
      </p:sp>
      <p:pic>
        <p:nvPicPr>
          <p:cNvPr id="11" name="col0-icon-3" descr="완료">    </p:cNvPr>
          <p:cNvPicPr>
            <a:picLocks noChangeAspect="1"/>
          </p:cNvPicPr>
          <p:nvPr/>
        </p:nvPicPr>
        <p:blipFill>
          <a:blip r:embed="rId4"/>
          <a:stretch>
            <a:fillRect/>
          </a:stretch>
        </p:blipFill>
        <p:spPr>
          <a:xfrm>
            <a:off x="914400" y="4498848"/>
            <a:ext cx="292608" cy="292608"/>
          </a:xfrm>
          <a:prstGeom prst="rect">
            <a:avLst/>
          </a:prstGeom>
        </p:spPr>
      </p:pic>
      <p:sp>
        <p:nvSpPr>
          <p:cNvPr id="12" name="Text 6"/>
          <p:cNvSpPr txBox="1"/>
          <p:nvPr/>
        </p:nvSpPr>
        <p:spPr>
          <a:xfrm>
            <a:off x="1371600" y="4434840"/>
            <a:ext cx="4434840" cy="420624"/>
          </a:xfrm>
          <a:prstGeom prst="rect">
            <a:avLst/>
          </a:prstGeom>
          <a:noFill/>
          <a:ln/>
        </p:spPr>
        <p:txBody>
          <a:bodyPr wrap="square" lIns="0" tIns="0" rIns="0" bIns="0" rtlCol="0" anchor="ctr"/>
          <a:lstStyle/>
          <a:p>
            <a:pPr indent="0" marL="0">
              <a:buNone/>
            </a:pPr>
            <a:r>
              <a:rPr lang="en-US" sz="1500" dirty="0">
                <a:solidFill>
                  <a:schemeClr val="tx1"/>
                </a:solidFill>
              </a:rPr>
              <a:t>바꿔 보기용 계획 변경 적용</a:t>
            </a:r>
            <a:endParaRPr lang="en-US" sz="1500" dirty="0"/>
          </a:p>
        </p:txBody>
      </p:sp>
      <p:pic>
        <p:nvPicPr>
          <p:cNvPr id="13" name="col0-icon-4" descr="완료">    </p:cNvPr>
          <p:cNvPicPr>
            <a:picLocks noChangeAspect="1"/>
          </p:cNvPicPr>
          <p:nvPr/>
        </p:nvPicPr>
        <p:blipFill>
          <a:blip r:embed="rId5"/>
          <a:stretch>
            <a:fillRect/>
          </a:stretch>
        </p:blipFill>
        <p:spPr>
          <a:xfrm>
            <a:off x="914400" y="5184648"/>
            <a:ext cx="292608" cy="292608"/>
          </a:xfrm>
          <a:prstGeom prst="rect">
            <a:avLst/>
          </a:prstGeom>
        </p:spPr>
      </p:pic>
      <p:sp>
        <p:nvSpPr>
          <p:cNvPr id="14" name="Text 7"/>
          <p:cNvSpPr txBox="1"/>
          <p:nvPr/>
        </p:nvSpPr>
        <p:spPr>
          <a:xfrm>
            <a:off x="1371600" y="5120640"/>
            <a:ext cx="4434840" cy="420624"/>
          </a:xfrm>
          <a:prstGeom prst="rect">
            <a:avLst/>
          </a:prstGeom>
          <a:noFill/>
          <a:ln/>
        </p:spPr>
        <p:txBody>
          <a:bodyPr wrap="square" lIns="0" tIns="0" rIns="0" bIns="0" rtlCol="0" anchor="ctr"/>
          <a:lstStyle/>
          <a:p>
            <a:pPr indent="0" marL="0">
              <a:buNone/>
            </a:pPr>
            <a:r>
              <a:rPr lang="en-US" sz="1500" dirty="0">
                <a:solidFill>
                  <a:schemeClr val="tx1"/>
                </a:solidFill>
              </a:rPr>
              <a:t>API 32개 → 12개로 정리, 테스트 32개</a:t>
            </a:r>
            <a:endParaRPr lang="en-US" sz="1500" dirty="0"/>
          </a:p>
        </p:txBody>
      </p:sp>
      <p:sp>
        <p:nvSpPr>
          <p:cNvPr id="15" name="col-card-1"/>
          <p:cNvSpPr/>
          <p:nvPr/>
        </p:nvSpPr>
        <p:spPr>
          <a:xfrm>
            <a:off x="6172200" y="1463040"/>
            <a:ext cx="5440680" cy="4572000"/>
          </a:xfrm>
          <a:prstGeom prst="roundRect">
            <a:avLst>
              <a:gd name="adj" fmla="val 2400"/>
            </a:avLst>
          </a:prstGeom>
          <a:solidFill>
            <a:srgbClr val="DCE8F6"/>
          </a:solidFill>
          <a:ln w="12700">
            <a:solidFill>
              <a:srgbClr val="DCE8F6"/>
            </a:solidFill>
            <a:prstDash val="solid"/>
          </a:ln>
          <a:effectLst>
            <a:outerShdw sx="100000" sy="100000" kx="0" ky="0" algn="bl" rotWithShape="0" blurRad="101600" dist="25400" dir="5400000">
              <a:srgbClr val="000000">
                <a:alpha val="12000"/>
              </a:srgbClr>
            </a:outerShdw>
          </a:effectLst>
        </p:spPr>
      </p:sp>
      <p:sp>
        <p:nvSpPr>
          <p:cNvPr id="16" name="Text 9"/>
          <p:cNvSpPr txBox="1"/>
          <p:nvPr/>
        </p:nvSpPr>
        <p:spPr>
          <a:xfrm>
            <a:off x="6537960" y="1691640"/>
            <a:ext cx="4754880" cy="457200"/>
          </a:xfrm>
          <a:prstGeom prst="rect">
            <a:avLst/>
          </a:prstGeom>
          <a:noFill/>
          <a:ln/>
        </p:spPr>
        <p:txBody>
          <a:bodyPr wrap="square" lIns="0" tIns="0" rIns="0" bIns="0" rtlCol="0" anchor="ctr"/>
          <a:lstStyle/>
          <a:p>
            <a:pPr indent="0" marL="0">
              <a:buNone/>
            </a:pPr>
            <a:r>
              <a:rPr lang="en-US" sz="2000" b="1" dirty="0">
                <a:solidFill>
                  <a:schemeClr val="tx1"/>
                </a:solidFill>
              </a:rPr>
              <a:t>다음 주부터 차례로</a:t>
            </a:r>
            <a:endParaRPr lang="en-US" sz="2000" dirty="0"/>
          </a:p>
        </p:txBody>
      </p:sp>
      <p:pic>
        <p:nvPicPr>
          <p:cNvPr id="17" name="col1-icon-0" descr="예정">    </p:cNvPr>
          <p:cNvPicPr>
            <a:picLocks noChangeAspect="1"/>
          </p:cNvPicPr>
          <p:nvPr/>
        </p:nvPicPr>
        <p:blipFill>
          <a:blip r:embed="rId6"/>
          <a:stretch>
            <a:fillRect/>
          </a:stretch>
        </p:blipFill>
        <p:spPr>
          <a:xfrm>
            <a:off x="6537960" y="2441448"/>
            <a:ext cx="292608" cy="292608"/>
          </a:xfrm>
          <a:prstGeom prst="rect">
            <a:avLst/>
          </a:prstGeom>
        </p:spPr>
      </p:pic>
      <p:sp>
        <p:nvSpPr>
          <p:cNvPr id="18" name="Text 10"/>
          <p:cNvSpPr txBox="1"/>
          <p:nvPr/>
        </p:nvSpPr>
        <p:spPr>
          <a:xfrm>
            <a:off x="6995160" y="2377440"/>
            <a:ext cx="4434840" cy="420624"/>
          </a:xfrm>
          <a:prstGeom prst="rect">
            <a:avLst/>
          </a:prstGeom>
          <a:noFill/>
          <a:ln/>
        </p:spPr>
        <p:txBody>
          <a:bodyPr wrap="square" lIns="0" tIns="0" rIns="0" bIns="0" rtlCol="0" anchor="ctr"/>
          <a:lstStyle/>
          <a:p>
            <a:pPr indent="0" marL="0">
              <a:buNone/>
            </a:pPr>
            <a:r>
              <a:rPr lang="en-US" sz="1500" dirty="0">
                <a:solidFill>
                  <a:schemeClr val="tx1"/>
                </a:solidFill>
              </a:rPr>
              <a:t>파이썬 기준 구현 → Java 엔진 이식</a:t>
            </a:r>
            <a:endParaRPr lang="en-US" sz="1500" dirty="0"/>
          </a:p>
        </p:txBody>
      </p:sp>
      <p:pic>
        <p:nvPicPr>
          <p:cNvPr id="19" name="col1-icon-1" descr="예정">    </p:cNvPr>
          <p:cNvPicPr>
            <a:picLocks noChangeAspect="1"/>
          </p:cNvPicPr>
          <p:nvPr/>
        </p:nvPicPr>
        <p:blipFill>
          <a:blip r:embed="rId7"/>
          <a:stretch>
            <a:fillRect/>
          </a:stretch>
        </p:blipFill>
        <p:spPr>
          <a:xfrm>
            <a:off x="6537960" y="3127248"/>
            <a:ext cx="292608" cy="292608"/>
          </a:xfrm>
          <a:prstGeom prst="rect">
            <a:avLst/>
          </a:prstGeom>
        </p:spPr>
      </p:pic>
      <p:sp>
        <p:nvSpPr>
          <p:cNvPr id="20" name="Text 11"/>
          <p:cNvSpPr txBox="1"/>
          <p:nvPr/>
        </p:nvSpPr>
        <p:spPr>
          <a:xfrm>
            <a:off x="6995160" y="3063240"/>
            <a:ext cx="4434840" cy="420624"/>
          </a:xfrm>
          <a:prstGeom prst="rect">
            <a:avLst/>
          </a:prstGeom>
          <a:noFill/>
          <a:ln/>
        </p:spPr>
        <p:txBody>
          <a:bodyPr wrap="square" lIns="0" tIns="0" rIns="0" bIns="0" rtlCol="0" anchor="ctr"/>
          <a:lstStyle/>
          <a:p>
            <a:pPr indent="0" marL="0">
              <a:buNone/>
            </a:pPr>
            <a:r>
              <a:rPr lang="en-US" sz="1500" dirty="0">
                <a:solidFill>
                  <a:schemeClr val="tx1"/>
                </a:solidFill>
              </a:rPr>
              <a:t>정답 파일과 대조 (오차 100만분의 1 이하)</a:t>
            </a:r>
            <a:endParaRPr lang="en-US" sz="1500" dirty="0"/>
          </a:p>
        </p:txBody>
      </p:sp>
      <p:pic>
        <p:nvPicPr>
          <p:cNvPr id="21" name="col1-icon-2" descr="예정">    </p:cNvPr>
          <p:cNvPicPr>
            <a:picLocks noChangeAspect="1"/>
          </p:cNvPicPr>
          <p:nvPr/>
        </p:nvPicPr>
        <p:blipFill>
          <a:blip r:embed="rId8"/>
          <a:stretch>
            <a:fillRect/>
          </a:stretch>
        </p:blipFill>
        <p:spPr>
          <a:xfrm>
            <a:off x="6537960" y="3813048"/>
            <a:ext cx="292608" cy="292608"/>
          </a:xfrm>
          <a:prstGeom prst="rect">
            <a:avLst/>
          </a:prstGeom>
        </p:spPr>
      </p:pic>
      <p:sp>
        <p:nvSpPr>
          <p:cNvPr id="22" name="Text 12"/>
          <p:cNvSpPr txBox="1"/>
          <p:nvPr/>
        </p:nvSpPr>
        <p:spPr>
          <a:xfrm>
            <a:off x="6995160" y="3749040"/>
            <a:ext cx="4434840" cy="420624"/>
          </a:xfrm>
          <a:prstGeom prst="rect">
            <a:avLst/>
          </a:prstGeom>
          <a:noFill/>
          <a:ln/>
        </p:spPr>
        <p:txBody>
          <a:bodyPr wrap="square" lIns="0" tIns="0" rIns="0" bIns="0" rtlCol="0" anchor="ctr"/>
          <a:lstStyle/>
          <a:p>
            <a:pPr indent="0" marL="0">
              <a:buNone/>
            </a:pPr>
            <a:r>
              <a:rPr lang="en-US" sz="1500" dirty="0">
                <a:solidFill>
                  <a:schemeClr val="tx1"/>
                </a:solidFill>
              </a:rPr>
              <a:t>기본 결과 → 바꿔 보기 · 계획 비교</a:t>
            </a:r>
            <a:endParaRPr lang="en-US" sz="1500" dirty="0"/>
          </a:p>
        </p:txBody>
      </p:sp>
      <p:pic>
        <p:nvPicPr>
          <p:cNvPr id="23" name="col1-icon-3" descr="예정">    </p:cNvPr>
          <p:cNvPicPr>
            <a:picLocks noChangeAspect="1"/>
          </p:cNvPicPr>
          <p:nvPr/>
        </p:nvPicPr>
        <p:blipFill>
          <a:blip r:embed="rId9"/>
          <a:stretch>
            <a:fillRect/>
          </a:stretch>
        </p:blipFill>
        <p:spPr>
          <a:xfrm>
            <a:off x="6537960" y="4498848"/>
            <a:ext cx="292608" cy="292608"/>
          </a:xfrm>
          <a:prstGeom prst="rect">
            <a:avLst/>
          </a:prstGeom>
        </p:spPr>
      </p:pic>
      <p:sp>
        <p:nvSpPr>
          <p:cNvPr id="24" name="Text 13"/>
          <p:cNvSpPr txBox="1"/>
          <p:nvPr/>
        </p:nvSpPr>
        <p:spPr>
          <a:xfrm>
            <a:off x="6995160" y="4434840"/>
            <a:ext cx="4434840" cy="420624"/>
          </a:xfrm>
          <a:prstGeom prst="rect">
            <a:avLst/>
          </a:prstGeom>
          <a:noFill/>
          <a:ln/>
        </p:spPr>
        <p:txBody>
          <a:bodyPr wrap="square" lIns="0" tIns="0" rIns="0" bIns="0" rtlCol="0" anchor="ctr"/>
          <a:lstStyle/>
          <a:p>
            <a:pPr indent="0" marL="0">
              <a:buNone/>
            </a:pPr>
            <a:r>
              <a:rPr lang="en-US" sz="1500" dirty="0">
                <a:solidFill>
                  <a:schemeClr val="tx1"/>
                </a:solidFill>
              </a:rPr>
              <a:t>역산 · 가능성 범위</a:t>
            </a:r>
            <a:endParaRPr lang="en-US" sz="1500" dirty="0"/>
          </a:p>
        </p:txBody>
      </p:sp>
      <p:pic>
        <p:nvPicPr>
          <p:cNvPr id="25" name="col1-icon-4" descr="예정">    </p:cNvPr>
          <p:cNvPicPr>
            <a:picLocks noChangeAspect="1"/>
          </p:cNvPicPr>
          <p:nvPr/>
        </p:nvPicPr>
        <p:blipFill>
          <a:blip r:embed="rId10"/>
          <a:stretch>
            <a:fillRect/>
          </a:stretch>
        </p:blipFill>
        <p:spPr>
          <a:xfrm>
            <a:off x="6537960" y="5184648"/>
            <a:ext cx="292608" cy="292608"/>
          </a:xfrm>
          <a:prstGeom prst="rect">
            <a:avLst/>
          </a:prstGeom>
        </p:spPr>
      </p:pic>
      <p:sp>
        <p:nvSpPr>
          <p:cNvPr id="26" name="Text 14"/>
          <p:cNvSpPr txBox="1"/>
          <p:nvPr/>
        </p:nvSpPr>
        <p:spPr>
          <a:xfrm>
            <a:off x="6995160" y="5120640"/>
            <a:ext cx="4434840" cy="420624"/>
          </a:xfrm>
          <a:prstGeom prst="rect">
            <a:avLst/>
          </a:prstGeom>
          <a:noFill/>
          <a:ln/>
        </p:spPr>
        <p:txBody>
          <a:bodyPr wrap="square" lIns="0" tIns="0" rIns="0" bIns="0" rtlCol="0" anchor="ctr"/>
          <a:lstStyle/>
          <a:p>
            <a:pPr indent="0" marL="0">
              <a:buNone/>
            </a:pPr>
            <a:r>
              <a:rPr lang="en-US" sz="1500" dirty="0">
                <a:solidFill>
                  <a:schemeClr val="tx1"/>
                </a:solidFill>
              </a:rPr>
              <a:t>부하 테스트 · AWS 배포 · CI/CD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b="1" dirty="0">
                <a:solidFill>
                  <a:srgbClr val="CADCFC"/>
                </a:solidFill>
              </a:rPr>
              <a:t>시연</a:t>
            </a:r>
            <a:endParaRPr lang="en-US" sz="1600" dirty="0"/>
          </a:p>
        </p:txBody>
      </p:sp>
      <p:sp>
        <p:nvSpPr>
          <p:cNvPr id="3" name="Text 0"/>
          <p:cNvSpPr/>
          <p:nvPr>
            <p:ph idx="100" type="title" hasCustomPrompt="1"/>
          </p:nvPr>
        </p:nvSpPr>
        <p:spPr>
          <a:xfrm>
            <a:off x="640080" y="1828800"/>
            <a:ext cx="6035040" cy="1828800"/>
          </a:xfrm>
          <a:prstGeom prst="rect">
            <a:avLst/>
          </a:prstGeom>
          <a:noFill/>
          <a:ln/>
        </p:spPr>
        <p:txBody>
          <a:bodyPr wrap="square" lIns="0" tIns="0" rIns="0" bIns="0" rtlCol="0" anchor="t"/>
          <a:lstStyle/>
          <a:p>
            <a:pPr algn="l" indent="0" marL="0">
              <a:buNone/>
            </a:pPr>
            <a:r>
              <a:rPr lang="en-US" sz="3600" b="1" dirty="0">
                <a:solidFill>
                  <a:schemeClr val="bg1"/>
                </a:solidFill>
              </a:rPr>
              <a:t>27세 2년 차 개발자의</a:t>
            </a:r>
            <a:endParaRPr lang="en-US" sz="3600" dirty="0"/>
          </a:p>
          <a:p>
            <a:pPr algn="l" indent="0" marL="0">
              <a:buNone/>
            </a:pPr>
            <a:r>
              <a:rPr lang="en-US" sz="3600" b="1" dirty="0">
                <a:solidFill>
                  <a:schemeClr val="bg1"/>
                </a:solidFill>
              </a:rPr>
              <a:t>5년 뒤 3,000만 원</a:t>
            </a:r>
            <a:endParaRPr lang="en-US" sz="3600" dirty="0"/>
          </a:p>
        </p:txBody>
      </p:sp>
      <p:sp>
        <p:nvSpPr>
          <p:cNvPr id="4" name="Text 0"/>
          <p:cNvSpPr/>
          <p:nvPr>
            <p:ph idx="101" type="body" hasCustomPrompt="1"/>
          </p:nvPr>
        </p:nvSpPr>
        <p:spPr>
          <a:xfrm>
            <a:off x="640080" y="3840480"/>
            <a:ext cx="6035040" cy="548640"/>
          </a:xfrm>
          <a:prstGeom prst="rect">
            <a:avLst/>
          </a:prstGeom>
          <a:noFill/>
          <a:ln/>
        </p:spPr>
        <p:txBody>
          <a:bodyPr wrap="square" lIns="0" tIns="0" rIns="0" bIns="0" rtlCol="0" anchor="t"/>
          <a:lstStyle/>
          <a:p>
            <a:pPr algn="l" indent="0" marL="0">
              <a:buNone/>
            </a:pPr>
            <a:r>
              <a:rPr lang="en-US" sz="1800" dirty="0">
                <a:solidFill>
                  <a:srgbClr val="CADCFC"/>
                </a:solidFill>
              </a:rPr>
              <a:t>실수령 250만 · 지출 190만 · 학자금 1,200만 원</a:t>
            </a:r>
            <a:endParaRPr lang="en-US" sz="1800" dirty="0"/>
          </a:p>
        </p:txBody>
      </p:sp>
      <p:sp>
        <p:nvSpPr>
          <p:cNvPr id="5" name="beat-card-0"/>
          <p:cNvSpPr/>
          <p:nvPr/>
        </p:nvSpPr>
        <p:spPr>
          <a:xfrm>
            <a:off x="7086600" y="1325880"/>
            <a:ext cx="4572000" cy="914400"/>
          </a:xfrm>
          <a:prstGeom prst="roundRect">
            <a:avLst>
              <a:gd name="adj" fmla="val 10000"/>
            </a:avLst>
          </a:prstGeom>
          <a:solidFill>
            <a:srgbClr val="1B3A5F"/>
          </a:solidFill>
          <a:ln w="12700">
            <a:solidFill>
              <a:srgbClr val="1B3A5F"/>
            </a:solidFill>
            <a:prstDash val="solid"/>
          </a:ln>
        </p:spPr>
      </p:sp>
      <p:sp>
        <p:nvSpPr>
          <p:cNvPr id="6" name="num-1-7.95"/>
          <p:cNvSpPr/>
          <p:nvPr/>
        </p:nvSpPr>
        <p:spPr>
          <a:xfrm>
            <a:off x="7269480" y="1527048"/>
            <a:ext cx="512064" cy="512064"/>
          </a:xfrm>
          <a:prstGeom prst="ellipse">
            <a:avLst/>
          </a:prstGeom>
          <a:solidFill>
            <a:schemeClr val="accent1"/>
          </a:solidFill>
          <a:ln w="12700">
            <a:solidFill>
              <a:schemeClr val="accent1"/>
            </a:solidFill>
            <a:prstDash val="solid"/>
          </a:ln>
        </p:spPr>
      </p:sp>
      <p:sp>
        <p:nvSpPr>
          <p:cNvPr id="7" name="Text 5"/>
          <p:cNvSpPr txBox="1"/>
          <p:nvPr/>
        </p:nvSpPr>
        <p:spPr>
          <a:xfrm>
            <a:off x="7269480" y="1527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8001000" y="1417320"/>
            <a:ext cx="3520440" cy="731520"/>
          </a:xfrm>
          <a:prstGeom prst="rect">
            <a:avLst/>
          </a:prstGeom>
          <a:noFill/>
          <a:ln/>
        </p:spPr>
        <p:txBody>
          <a:bodyPr wrap="square" lIns="0" tIns="0" rIns="0" bIns="0" rtlCol="0" anchor="ctr"/>
          <a:lstStyle/>
          <a:p>
            <a:pPr indent="0" marL="0">
              <a:buNone/>
            </a:pPr>
            <a:r>
              <a:rPr lang="en-US" sz="1600" b="1" dirty="0">
                <a:solidFill>
                  <a:srgbClr val="FFFFFF"/>
                </a:solidFill>
              </a:rPr>
              <a:t>입력하는 대로 검사</a:t>
            </a:r>
            <a:endParaRPr lang="en-US" sz="1600" dirty="0"/>
          </a:p>
          <a:p>
            <a:pPr indent="0" marL="0">
              <a:buNone/>
            </a:pPr>
            <a:r>
              <a:rPr lang="en-US" sz="1300" dirty="0">
                <a:solidFill>
                  <a:srgbClr val="CADCFC"/>
                </a:solidFill>
              </a:rPr>
              <a:t>나이 17 → 바로 오류</a:t>
            </a:r>
            <a:endParaRPr lang="en-US" sz="1600" dirty="0"/>
          </a:p>
        </p:txBody>
      </p:sp>
      <p:sp>
        <p:nvSpPr>
          <p:cNvPr id="9" name="beat-card-1"/>
          <p:cNvSpPr/>
          <p:nvPr/>
        </p:nvSpPr>
        <p:spPr>
          <a:xfrm>
            <a:off x="7086600" y="2404872"/>
            <a:ext cx="4572000" cy="914400"/>
          </a:xfrm>
          <a:prstGeom prst="roundRect">
            <a:avLst>
              <a:gd name="adj" fmla="val 10000"/>
            </a:avLst>
          </a:prstGeom>
          <a:solidFill>
            <a:srgbClr val="1B3A5F"/>
          </a:solidFill>
          <a:ln w="12700">
            <a:solidFill>
              <a:srgbClr val="1B3A5F"/>
            </a:solidFill>
            <a:prstDash val="solid"/>
          </a:ln>
        </p:spPr>
      </p:sp>
      <p:sp>
        <p:nvSpPr>
          <p:cNvPr id="10" name="num-2-7.95"/>
          <p:cNvSpPr/>
          <p:nvPr/>
        </p:nvSpPr>
        <p:spPr>
          <a:xfrm>
            <a:off x="7269480" y="2606040"/>
            <a:ext cx="512064" cy="512064"/>
          </a:xfrm>
          <a:prstGeom prst="ellipse">
            <a:avLst/>
          </a:prstGeom>
          <a:solidFill>
            <a:schemeClr val="accent1"/>
          </a:solidFill>
          <a:ln w="12700">
            <a:solidFill>
              <a:schemeClr val="accent1"/>
            </a:solidFill>
            <a:prstDash val="solid"/>
          </a:ln>
        </p:spPr>
      </p:sp>
      <p:sp>
        <p:nvSpPr>
          <p:cNvPr id="11" name="Text 9"/>
          <p:cNvSpPr txBox="1"/>
          <p:nvPr/>
        </p:nvSpPr>
        <p:spPr>
          <a:xfrm>
            <a:off x="7269480" y="260604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8001000" y="2496312"/>
            <a:ext cx="3520440" cy="731520"/>
          </a:xfrm>
          <a:prstGeom prst="rect">
            <a:avLst/>
          </a:prstGeom>
          <a:noFill/>
          <a:ln/>
        </p:spPr>
        <p:txBody>
          <a:bodyPr wrap="square" lIns="0" tIns="0" rIns="0" bIns="0" rtlCol="0" anchor="ctr"/>
          <a:lstStyle/>
          <a:p>
            <a:pPr indent="0" marL="0">
              <a:buNone/>
            </a:pPr>
            <a:r>
              <a:rPr lang="en-US" sz="1600" b="1" dirty="0">
                <a:solidFill>
                  <a:srgbClr val="FFFFFF"/>
                </a:solidFill>
              </a:rPr>
              <a:t>대출 월 상환액</a:t>
            </a:r>
            <a:endParaRPr lang="en-US" sz="1600" dirty="0"/>
          </a:p>
          <a:p>
            <a:pPr indent="0" marL="0">
              <a:buNone/>
            </a:pPr>
            <a:r>
              <a:rPr lang="en-US" sz="1300" dirty="0">
                <a:solidFill>
                  <a:srgbClr val="CADCFC"/>
                </a:solidFill>
              </a:rPr>
              <a:t>134,839원 자동 계산</a:t>
            </a:r>
            <a:endParaRPr lang="en-US" sz="1600" dirty="0"/>
          </a:p>
        </p:txBody>
      </p:sp>
      <p:sp>
        <p:nvSpPr>
          <p:cNvPr id="13" name="beat-card-2"/>
          <p:cNvSpPr/>
          <p:nvPr/>
        </p:nvSpPr>
        <p:spPr>
          <a:xfrm>
            <a:off x="7086600" y="3483864"/>
            <a:ext cx="4572000" cy="914400"/>
          </a:xfrm>
          <a:prstGeom prst="roundRect">
            <a:avLst>
              <a:gd name="adj" fmla="val 10000"/>
            </a:avLst>
          </a:prstGeom>
          <a:solidFill>
            <a:srgbClr val="1B3A5F"/>
          </a:solidFill>
          <a:ln w="12700">
            <a:solidFill>
              <a:srgbClr val="1B3A5F"/>
            </a:solidFill>
            <a:prstDash val="solid"/>
          </a:ln>
        </p:spPr>
      </p:sp>
      <p:sp>
        <p:nvSpPr>
          <p:cNvPr id="14" name="num-3-7.95"/>
          <p:cNvSpPr/>
          <p:nvPr/>
        </p:nvSpPr>
        <p:spPr>
          <a:xfrm>
            <a:off x="7269480" y="3685032"/>
            <a:ext cx="512064" cy="512064"/>
          </a:xfrm>
          <a:prstGeom prst="ellipse">
            <a:avLst/>
          </a:prstGeom>
          <a:solidFill>
            <a:schemeClr val="accent1"/>
          </a:solidFill>
          <a:ln w="12700">
            <a:solidFill>
              <a:schemeClr val="accent1"/>
            </a:solidFill>
            <a:prstDash val="solid"/>
          </a:ln>
        </p:spPr>
      </p:sp>
      <p:sp>
        <p:nvSpPr>
          <p:cNvPr id="15" name="Text 13"/>
          <p:cNvSpPr txBox="1"/>
          <p:nvPr/>
        </p:nvSpPr>
        <p:spPr>
          <a:xfrm>
            <a:off x="7269480" y="368503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001000" y="3575304"/>
            <a:ext cx="3520440" cy="731520"/>
          </a:xfrm>
          <a:prstGeom prst="rect">
            <a:avLst/>
          </a:prstGeom>
          <a:noFill/>
          <a:ln/>
        </p:spPr>
        <p:txBody>
          <a:bodyPr wrap="square" lIns="0" tIns="0" rIns="0" bIns="0" rtlCol="0" anchor="ctr"/>
          <a:lstStyle/>
          <a:p>
            <a:pPr indent="0" marL="0">
              <a:buNone/>
            </a:pPr>
            <a:r>
              <a:rPr lang="en-US" sz="1600" b="1" dirty="0">
                <a:solidFill>
                  <a:srgbClr val="FFFFFF"/>
                </a:solidFill>
              </a:rPr>
              <a:t>놓치기 쉬운 부족분</a:t>
            </a:r>
            <a:endParaRPr lang="en-US" sz="1600" dirty="0"/>
          </a:p>
          <a:p>
            <a:pPr indent="0" marL="0">
              <a:buNone/>
            </a:pPr>
            <a:r>
              <a:rPr lang="en-US" sz="1300" dirty="0">
                <a:solidFill>
                  <a:srgbClr val="CADCFC"/>
                </a:solidFill>
              </a:rPr>
              <a:t>“매달 약 3.5만 원이 모자라요”</a:t>
            </a:r>
            <a:endParaRPr lang="en-US" sz="1600" dirty="0"/>
          </a:p>
        </p:txBody>
      </p:sp>
      <p:sp>
        <p:nvSpPr>
          <p:cNvPr id="17" name="beat-card-3"/>
          <p:cNvSpPr/>
          <p:nvPr/>
        </p:nvSpPr>
        <p:spPr>
          <a:xfrm>
            <a:off x="7086600" y="4562856"/>
            <a:ext cx="4572000" cy="914400"/>
          </a:xfrm>
          <a:prstGeom prst="roundRect">
            <a:avLst>
              <a:gd name="adj" fmla="val 10000"/>
            </a:avLst>
          </a:prstGeom>
          <a:solidFill>
            <a:srgbClr val="1B3A5F"/>
          </a:solidFill>
          <a:ln w="12700">
            <a:solidFill>
              <a:srgbClr val="1B3A5F"/>
            </a:solidFill>
            <a:prstDash val="solid"/>
          </a:ln>
        </p:spPr>
      </p:sp>
      <p:sp>
        <p:nvSpPr>
          <p:cNvPr id="18" name="num-4-7.95"/>
          <p:cNvSpPr/>
          <p:nvPr/>
        </p:nvSpPr>
        <p:spPr>
          <a:xfrm>
            <a:off x="7269480" y="4764024"/>
            <a:ext cx="512064" cy="512064"/>
          </a:xfrm>
          <a:prstGeom prst="ellipse">
            <a:avLst/>
          </a:prstGeom>
          <a:solidFill>
            <a:schemeClr val="accent1"/>
          </a:solidFill>
          <a:ln w="12700">
            <a:solidFill>
              <a:schemeClr val="accent1"/>
            </a:solidFill>
            <a:prstDash val="solid"/>
          </a:ln>
        </p:spPr>
      </p:sp>
      <p:sp>
        <p:nvSpPr>
          <p:cNvPr id="19" name="Text 17"/>
          <p:cNvSpPr txBox="1"/>
          <p:nvPr/>
        </p:nvSpPr>
        <p:spPr>
          <a:xfrm>
            <a:off x="7269480" y="476402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8"/>
          <p:cNvSpPr txBox="1"/>
          <p:nvPr/>
        </p:nvSpPr>
        <p:spPr>
          <a:xfrm>
            <a:off x="8001000" y="4654296"/>
            <a:ext cx="3520440" cy="731520"/>
          </a:xfrm>
          <a:prstGeom prst="rect">
            <a:avLst/>
          </a:prstGeom>
          <a:noFill/>
          <a:ln/>
        </p:spPr>
        <p:txBody>
          <a:bodyPr wrap="square" lIns="0" tIns="0" rIns="0" bIns="0" rtlCol="0" anchor="ctr"/>
          <a:lstStyle/>
          <a:p>
            <a:pPr indent="0" marL="0">
              <a:buNone/>
            </a:pPr>
            <a:r>
              <a:rPr lang="en-US" sz="1600" b="1" dirty="0">
                <a:solidFill>
                  <a:srgbClr val="FFFFFF"/>
                </a:solidFill>
              </a:rPr>
              <a:t>예시 결과</a:t>
            </a:r>
            <a:endParaRPr lang="en-US" sz="1600" dirty="0"/>
          </a:p>
          <a:p>
            <a:pPr indent="0" marL="0">
              <a:buNone/>
            </a:pPr>
            <a:r>
              <a:rPr lang="en-US" sz="1300" dirty="0">
                <a:solidFill>
                  <a:srgbClr val="CADCFC"/>
                </a:solidFill>
              </a:rPr>
              <a:t>가능성 약 58% · 계산기 4,440만 원</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035040" cy="1828800"/>
          </a:xfrm>
          <a:prstGeom prst="rect">
            <a:avLst/>
          </a:prstGeom>
          <a:noFill/>
          <a:ln/>
        </p:spPr>
        <p:txBody>
          <a:bodyPr wrap="square" lIns="0" tIns="0" rIns="0" bIns="0" rtlCol="0" anchor="t"/>
          <a:lstStyle/>
          <a:p>
            <a:pPr algn="l" indent="0" marL="0">
              <a:buNone/>
            </a:pPr>
            <a:r>
              <a:rPr lang="en-US" sz="3600" b="1" dirty="0">
                <a:solidFill>
                  <a:schemeClr val="bg1"/>
                </a:solidFill>
              </a:rPr>
              <a:t>감사합니다</a:t>
            </a:r>
            <a:endParaRPr lang="en-US" sz="3600" dirty="0"/>
          </a:p>
        </p:txBody>
      </p:sp>
      <p:sp>
        <p:nvSpPr>
          <p:cNvPr id="3" name="Text 0"/>
          <p:cNvSpPr/>
          <p:nvPr>
            <p:ph idx="101" type="body" hasCustomPrompt="1"/>
          </p:nvPr>
        </p:nvSpPr>
        <p:spPr>
          <a:xfrm>
            <a:off x="640080" y="3840480"/>
            <a:ext cx="6035040" cy="548640"/>
          </a:xfrm>
          <a:prstGeom prst="rect">
            <a:avLst/>
          </a:prstGeom>
          <a:noFill/>
          <a:ln/>
        </p:spPr>
        <p:txBody>
          <a:bodyPr wrap="square" lIns="0" tIns="0" rIns="0" bIns="0" rtlCol="0" anchor="t"/>
          <a:lstStyle/>
          <a:p>
            <a:pPr algn="l" indent="0" marL="0">
              <a:buNone/>
            </a:pPr>
            <a:r>
              <a:rPr lang="en-US" sz="1800" dirty="0">
                <a:solidFill>
                  <a:srgbClr val="CADCFC"/>
                </a:solidFill>
              </a:rPr>
              <a:t>질문 받겠습니다</a:t>
            </a:r>
            <a:endParaRPr lang="en-US" sz="1800" dirty="0"/>
          </a:p>
        </p:txBody>
      </p:sp>
      <p:sp>
        <p:nvSpPr>
          <p:cNvPr id="4" name="role-card-0"/>
          <p:cNvSpPr/>
          <p:nvPr/>
        </p:nvSpPr>
        <p:spPr>
          <a:xfrm>
            <a:off x="7086600" y="1828800"/>
            <a:ext cx="4572000" cy="868680"/>
          </a:xfrm>
          <a:prstGeom prst="roundRect">
            <a:avLst>
              <a:gd name="adj" fmla="val 10526"/>
            </a:avLst>
          </a:prstGeom>
          <a:solidFill>
            <a:srgbClr val="1B3A5F"/>
          </a:solidFill>
          <a:ln w="12700">
            <a:solidFill>
              <a:srgbClr val="1B3A5F"/>
            </a:solidFill>
            <a:prstDash val="solid"/>
          </a:ln>
        </p:spPr>
      </p:sp>
      <p:sp>
        <p:nvSpPr>
          <p:cNvPr id="5" name="Text 3"/>
          <p:cNvSpPr txBox="1"/>
          <p:nvPr/>
        </p:nvSpPr>
        <p:spPr>
          <a:xfrm>
            <a:off x="7360920" y="1901952"/>
            <a:ext cx="4114800" cy="731520"/>
          </a:xfrm>
          <a:prstGeom prst="rect">
            <a:avLst/>
          </a:prstGeom>
          <a:noFill/>
          <a:ln/>
        </p:spPr>
        <p:txBody>
          <a:bodyPr wrap="square" lIns="0" tIns="0" rIns="0" bIns="0" rtlCol="0" anchor="ctr"/>
          <a:lstStyle/>
          <a:p>
            <a:pPr indent="0" marL="0">
              <a:buNone/>
            </a:pPr>
            <a:r>
              <a:rPr lang="en-US" sz="1700" b="1" dirty="0">
                <a:solidFill>
                  <a:srgbClr val="FFFFFF"/>
                </a:solidFill>
              </a:rPr>
              <a:t>조민석</a:t>
            </a:r>
            <a:endParaRPr lang="en-US" sz="1700" dirty="0"/>
          </a:p>
          <a:p>
            <a:pPr indent="0" marL="0">
              <a:buNone/>
            </a:pPr>
            <a:r>
              <a:rPr lang="en-US" sz="1300" dirty="0">
                <a:solidFill>
                  <a:srgbClr val="CADCFC"/>
                </a:solidFill>
              </a:rPr>
              <a:t>데이터분석 · 계산 모델 · 파라미터</a:t>
            </a:r>
            <a:endParaRPr lang="en-US" sz="1700" dirty="0"/>
          </a:p>
        </p:txBody>
      </p:sp>
      <p:sp>
        <p:nvSpPr>
          <p:cNvPr id="6" name="role-card-1"/>
          <p:cNvSpPr/>
          <p:nvPr/>
        </p:nvSpPr>
        <p:spPr>
          <a:xfrm>
            <a:off x="7086600" y="2880360"/>
            <a:ext cx="4572000" cy="868680"/>
          </a:xfrm>
          <a:prstGeom prst="roundRect">
            <a:avLst>
              <a:gd name="adj" fmla="val 10526"/>
            </a:avLst>
          </a:prstGeom>
          <a:solidFill>
            <a:srgbClr val="1B3A5F"/>
          </a:solidFill>
          <a:ln w="12700">
            <a:solidFill>
              <a:srgbClr val="1B3A5F"/>
            </a:solidFill>
            <a:prstDash val="solid"/>
          </a:ln>
        </p:spPr>
      </p:sp>
      <p:sp>
        <p:nvSpPr>
          <p:cNvPr id="7" name="Text 5"/>
          <p:cNvSpPr txBox="1"/>
          <p:nvPr/>
        </p:nvSpPr>
        <p:spPr>
          <a:xfrm>
            <a:off x="7360920" y="2953512"/>
            <a:ext cx="4114800" cy="731520"/>
          </a:xfrm>
          <a:prstGeom prst="rect">
            <a:avLst/>
          </a:prstGeom>
          <a:noFill/>
          <a:ln/>
        </p:spPr>
        <p:txBody>
          <a:bodyPr wrap="square" lIns="0" tIns="0" rIns="0" bIns="0" rtlCol="0" anchor="ctr"/>
          <a:lstStyle/>
          <a:p>
            <a:pPr indent="0" marL="0">
              <a:buNone/>
            </a:pPr>
            <a:r>
              <a:rPr lang="en-US" sz="1700" b="1" dirty="0">
                <a:solidFill>
                  <a:srgbClr val="FFFFFF"/>
                </a:solidFill>
              </a:rPr>
              <a:t>정선빈</a:t>
            </a:r>
            <a:endParaRPr lang="en-US" sz="1700" dirty="0"/>
          </a:p>
          <a:p>
            <a:pPr indent="0" marL="0">
              <a:buNone/>
            </a:pPr>
            <a:r>
              <a:rPr lang="en-US" sz="1300" dirty="0">
                <a:solidFill>
                  <a:srgbClr val="CADCFC"/>
                </a:solidFill>
              </a:rPr>
              <a:t>백엔드 · API · 엔진 이식</a:t>
            </a:r>
            <a:endParaRPr lang="en-US" sz="1700" dirty="0"/>
          </a:p>
        </p:txBody>
      </p:sp>
      <p:sp>
        <p:nvSpPr>
          <p:cNvPr id="8" name="role-card-2"/>
          <p:cNvSpPr/>
          <p:nvPr/>
        </p:nvSpPr>
        <p:spPr>
          <a:xfrm>
            <a:off x="7086600" y="3931920"/>
            <a:ext cx="4572000" cy="868680"/>
          </a:xfrm>
          <a:prstGeom prst="roundRect">
            <a:avLst>
              <a:gd name="adj" fmla="val 10526"/>
            </a:avLst>
          </a:prstGeom>
          <a:solidFill>
            <a:srgbClr val="1B3A5F"/>
          </a:solidFill>
          <a:ln w="12700">
            <a:solidFill>
              <a:srgbClr val="1B3A5F"/>
            </a:solidFill>
            <a:prstDash val="solid"/>
          </a:ln>
        </p:spPr>
      </p:sp>
      <p:sp>
        <p:nvSpPr>
          <p:cNvPr id="9" name="Text 7"/>
          <p:cNvSpPr txBox="1"/>
          <p:nvPr/>
        </p:nvSpPr>
        <p:spPr>
          <a:xfrm>
            <a:off x="7360920" y="4005072"/>
            <a:ext cx="4114800" cy="731520"/>
          </a:xfrm>
          <a:prstGeom prst="rect">
            <a:avLst/>
          </a:prstGeom>
          <a:noFill/>
          <a:ln/>
        </p:spPr>
        <p:txBody>
          <a:bodyPr wrap="square" lIns="0" tIns="0" rIns="0" bIns="0" rtlCol="0" anchor="ctr"/>
          <a:lstStyle/>
          <a:p>
            <a:pPr indent="0" marL="0">
              <a:buNone/>
            </a:pPr>
            <a:r>
              <a:rPr lang="en-US" sz="1700" b="1" dirty="0">
                <a:solidFill>
                  <a:srgbClr val="FFFFFF"/>
                </a:solidFill>
              </a:rPr>
              <a:t>이윤제</a:t>
            </a:r>
            <a:endParaRPr lang="en-US" sz="1700" dirty="0"/>
          </a:p>
          <a:p>
            <a:pPr indent="0" marL="0">
              <a:buNone/>
            </a:pPr>
            <a:r>
              <a:rPr lang="en-US" sz="1300" dirty="0">
                <a:solidFill>
                  <a:srgbClr val="CADCFC"/>
                </a:solidFill>
              </a:rPr>
              <a:t>프론트엔드 · 화면 · 입력 저장</a:t>
            </a:r>
            <a:endParaRPr lang="en-US" sz="1700" dirty="0"/>
          </a:p>
        </p:txBody>
      </p:sp>
    </p:spTree>
  </p:cSld>
  <p:clrMapOvr>
    <a:masterClrMapping/>
  </p:clrMapOvr>
</p:sld>
</file>

<file path=ppt/theme/theme1.xml><?xml version="1.0" encoding="utf-8"?>
<a:theme xmlns:a="http://schemas.openxmlformats.org/drawingml/2006/main" name="Capstone 6">
  <a:themeElements>
    <a:clrScheme name="Capstone 6">
      <a:dk1>
        <a:srgbClr val="1F2933"/>
      </a:dk1>
      <a:lt1>
        <a:srgbClr val="FFFFFF"/>
      </a:lt1>
      <a:dk2>
        <a:srgbClr val="0F2A47"/>
      </a:dk2>
      <a:lt2>
        <a:srgbClr val="F2F5F9"/>
      </a:lt2>
      <a:accent1>
        <a:srgbClr val="0B5CAD"/>
      </a:accent1>
      <a:accent2>
        <a:srgbClr val="C2570C"/>
      </a:accent2>
      <a:accent3>
        <a:srgbClr val="8A96A3"/>
      </a:accent3>
      <a:accent4>
        <a:srgbClr val="DCE8F6"/>
      </a:accent4>
      <a:accent5>
        <a:srgbClr val="FBE6D6"/>
      </a:accent5>
      <a:accent6>
        <a:srgbClr val="2E7D5B"/>
      </a:accent6>
      <a:hlink>
        <a:srgbClr val="0B5CAD"/>
      </a:hlink>
      <a:folHlink>
        <a:srgbClr val="6B7785"/>
      </a:folHlink>
    </a:clrScheme>
    <a:fontScheme name="Capstone 6">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사회초년생 맞춤형 금융 시뮬레이터</dc:title>
  <dc:subject>PptxGenJS Presentation</dc:subject>
  <dc:creator>캡스톤디자인 6조</dc:creator>
  <cp:lastModifiedBy>캡스톤디자인 6조</cp:lastModifiedBy>
  <cp:revision>1</cp:revision>
  <dcterms:created xsi:type="dcterms:W3CDTF">2026-10-29T06:38:41Z</dcterms:created>
  <dcterms:modified xsi:type="dcterms:W3CDTF">2026-10-29T06:38:41Z</dcterms:modified>
</cp:coreProperties>
</file>